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9" r:id="rId14"/>
    <p:sldId id="268"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2B3447-53E7-4311-AB2E-E64AC421E34A}" type="datetimeFigureOut">
              <a:rPr lang="en-ZA" smtClean="0"/>
              <a:t>19/07/2026</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B5C67D-656C-4CEC-9D4F-9D0E96518B06}" type="slidenum">
              <a:rPr lang="en-ZA" smtClean="0"/>
              <a:t>‹#›</a:t>
            </a:fld>
            <a:endParaRPr lang="en-ZA"/>
          </a:p>
        </p:txBody>
      </p:sp>
    </p:spTree>
    <p:extLst>
      <p:ext uri="{BB962C8B-B14F-4D97-AF65-F5344CB8AC3E}">
        <p14:creationId xmlns:p14="http://schemas.microsoft.com/office/powerpoint/2010/main" val="1428053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09B5C67D-656C-4CEC-9D4F-9D0E96518B06}" type="slidenum">
              <a:rPr lang="en-ZA" smtClean="0"/>
              <a:t>3</a:t>
            </a:fld>
            <a:endParaRPr lang="en-ZA"/>
          </a:p>
        </p:txBody>
      </p:sp>
    </p:spTree>
    <p:extLst>
      <p:ext uri="{BB962C8B-B14F-4D97-AF65-F5344CB8AC3E}">
        <p14:creationId xmlns:p14="http://schemas.microsoft.com/office/powerpoint/2010/main" val="1369398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D450-C658-54E5-82C3-FB5681F1DC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ZA"/>
          </a:p>
        </p:txBody>
      </p:sp>
      <p:sp>
        <p:nvSpPr>
          <p:cNvPr id="3" name="Subtitle 2">
            <a:extLst>
              <a:ext uri="{FF2B5EF4-FFF2-40B4-BE49-F238E27FC236}">
                <a16:creationId xmlns:a16="http://schemas.microsoft.com/office/drawing/2014/main" id="{42D280AD-971E-5C74-A608-80FF612B4C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ZA"/>
          </a:p>
        </p:txBody>
      </p:sp>
      <p:sp>
        <p:nvSpPr>
          <p:cNvPr id="4" name="Date Placeholder 3">
            <a:extLst>
              <a:ext uri="{FF2B5EF4-FFF2-40B4-BE49-F238E27FC236}">
                <a16:creationId xmlns:a16="http://schemas.microsoft.com/office/drawing/2014/main" id="{C8DCD10E-7A92-43DC-F1E5-2AE7397A64AF}"/>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5" name="Footer Placeholder 4">
            <a:extLst>
              <a:ext uri="{FF2B5EF4-FFF2-40B4-BE49-F238E27FC236}">
                <a16:creationId xmlns:a16="http://schemas.microsoft.com/office/drawing/2014/main" id="{09E589AD-753A-1261-881D-690958733393}"/>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E69B402-8802-31BC-4BFC-8EB3FD98FA16}"/>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910953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B514A-AEF1-A622-F168-73562EAF18FB}"/>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104D3799-4737-ABB1-67F6-C68D83E959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D62A38E2-8A80-9E64-2472-AB5B84B03C1D}"/>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5" name="Footer Placeholder 4">
            <a:extLst>
              <a:ext uri="{FF2B5EF4-FFF2-40B4-BE49-F238E27FC236}">
                <a16:creationId xmlns:a16="http://schemas.microsoft.com/office/drawing/2014/main" id="{F200963F-4504-BB44-612D-DC53B86C82A1}"/>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1E538473-E502-AAF3-E2DB-25E508399F6C}"/>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3832721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3D3FB5-A9D1-5F19-3110-57365ED585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ZA"/>
          </a:p>
        </p:txBody>
      </p:sp>
      <p:sp>
        <p:nvSpPr>
          <p:cNvPr id="3" name="Text Placeholder 2">
            <a:extLst>
              <a:ext uri="{FF2B5EF4-FFF2-40B4-BE49-F238E27FC236}">
                <a16:creationId xmlns:a16="http://schemas.microsoft.com/office/drawing/2014/main" id="{27AA1A90-87E9-FB7C-3116-506187742C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E4322-71AB-E20F-A1F2-010702321F92}"/>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5" name="Footer Placeholder 4">
            <a:extLst>
              <a:ext uri="{FF2B5EF4-FFF2-40B4-BE49-F238E27FC236}">
                <a16:creationId xmlns:a16="http://schemas.microsoft.com/office/drawing/2014/main" id="{C6FB9F7D-03E7-6E27-E6AF-60F89A99754B}"/>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365EFA61-31E2-7C10-FE35-4711A070DF7F}"/>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343492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59903-1381-21C1-3906-3DB606468485}"/>
              </a:ext>
            </a:extLst>
          </p:cNvPr>
          <p:cNvSpPr>
            <a:spLocks noGrp="1"/>
          </p:cNvSpPr>
          <p:nvPr>
            <p:ph type="title"/>
          </p:nvPr>
        </p:nvSpPr>
        <p:spPr/>
        <p:txBody>
          <a:bodyPr/>
          <a:lstStyle/>
          <a:p>
            <a:r>
              <a:rPr lang="en-US"/>
              <a:t>Click to edit Master title style</a:t>
            </a:r>
            <a:endParaRPr lang="en-ZA"/>
          </a:p>
        </p:txBody>
      </p:sp>
      <p:sp>
        <p:nvSpPr>
          <p:cNvPr id="3" name="Content Placeholder 2">
            <a:extLst>
              <a:ext uri="{FF2B5EF4-FFF2-40B4-BE49-F238E27FC236}">
                <a16:creationId xmlns:a16="http://schemas.microsoft.com/office/drawing/2014/main" id="{20957291-7C6A-79FD-F4BA-761A659E3A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Content Placeholder 3">
            <a:extLst>
              <a:ext uri="{FF2B5EF4-FFF2-40B4-BE49-F238E27FC236}">
                <a16:creationId xmlns:a16="http://schemas.microsoft.com/office/drawing/2014/main" id="{107EE15C-8AEF-96BC-B564-28F8EEC8DD9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Date Placeholder 4">
            <a:extLst>
              <a:ext uri="{FF2B5EF4-FFF2-40B4-BE49-F238E27FC236}">
                <a16:creationId xmlns:a16="http://schemas.microsoft.com/office/drawing/2014/main" id="{10151E46-4D1D-1665-DE56-3DC59CC7DE54}"/>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6" name="Footer Placeholder 5">
            <a:extLst>
              <a:ext uri="{FF2B5EF4-FFF2-40B4-BE49-F238E27FC236}">
                <a16:creationId xmlns:a16="http://schemas.microsoft.com/office/drawing/2014/main" id="{947403EA-54CB-9940-FCA6-D211FB2B1A46}"/>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41FB712-0CC6-9985-6E29-79D967C38C9B}"/>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1612890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085F5-DB5A-7773-F762-4EBB77A6337F}"/>
              </a:ext>
            </a:extLst>
          </p:cNvPr>
          <p:cNvSpPr>
            <a:spLocks noGrp="1"/>
          </p:cNvSpPr>
          <p:nvPr>
            <p:ph type="title"/>
          </p:nvPr>
        </p:nvSpPr>
        <p:spPr>
          <a:xfrm>
            <a:off x="839788" y="365125"/>
            <a:ext cx="10515600" cy="1325563"/>
          </a:xfrm>
        </p:spPr>
        <p:txBody>
          <a:bodyPr/>
          <a:lstStyle/>
          <a:p>
            <a:r>
              <a:rPr lang="en-US"/>
              <a:t>Click to edit Master title style</a:t>
            </a:r>
            <a:endParaRPr lang="en-ZA"/>
          </a:p>
        </p:txBody>
      </p:sp>
      <p:sp>
        <p:nvSpPr>
          <p:cNvPr id="3" name="Text Placeholder 2">
            <a:extLst>
              <a:ext uri="{FF2B5EF4-FFF2-40B4-BE49-F238E27FC236}">
                <a16:creationId xmlns:a16="http://schemas.microsoft.com/office/drawing/2014/main" id="{C601A9FE-8142-D48B-10D0-94348AFD19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592769-21B8-A5EC-DA3C-7D3EE1838D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5" name="Text Placeholder 4">
            <a:extLst>
              <a:ext uri="{FF2B5EF4-FFF2-40B4-BE49-F238E27FC236}">
                <a16:creationId xmlns:a16="http://schemas.microsoft.com/office/drawing/2014/main" id="{314182B1-34CB-DC6B-A9B8-703838A23AF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9F2F83-D68F-3050-3F4D-92716C52E9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7" name="Date Placeholder 6">
            <a:extLst>
              <a:ext uri="{FF2B5EF4-FFF2-40B4-BE49-F238E27FC236}">
                <a16:creationId xmlns:a16="http://schemas.microsoft.com/office/drawing/2014/main" id="{2C7CFF93-39D9-407D-02AC-CAF48DBF1B6B}"/>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8" name="Footer Placeholder 7">
            <a:extLst>
              <a:ext uri="{FF2B5EF4-FFF2-40B4-BE49-F238E27FC236}">
                <a16:creationId xmlns:a16="http://schemas.microsoft.com/office/drawing/2014/main" id="{F699322F-424C-21D4-C789-9A12006B2D71}"/>
              </a:ext>
            </a:extLst>
          </p:cNvPr>
          <p:cNvSpPr>
            <a:spLocks noGrp="1"/>
          </p:cNvSpPr>
          <p:nvPr>
            <p:ph type="ftr" sz="quarter" idx="11"/>
          </p:nvPr>
        </p:nvSpPr>
        <p:spPr/>
        <p:txBody>
          <a:bodyPr/>
          <a:lstStyle/>
          <a:p>
            <a:endParaRPr lang="en-ZA"/>
          </a:p>
        </p:txBody>
      </p:sp>
      <p:sp>
        <p:nvSpPr>
          <p:cNvPr id="9" name="Slide Number Placeholder 8">
            <a:extLst>
              <a:ext uri="{FF2B5EF4-FFF2-40B4-BE49-F238E27FC236}">
                <a16:creationId xmlns:a16="http://schemas.microsoft.com/office/drawing/2014/main" id="{EC64ECC2-227C-ACFB-5C4B-95A7E07570D3}"/>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1758726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039A38-F05B-F2FB-272D-4445890F0480}"/>
              </a:ext>
            </a:extLst>
          </p:cNvPr>
          <p:cNvSpPr>
            <a:spLocks noGrp="1"/>
          </p:cNvSpPr>
          <p:nvPr>
            <p:ph type="title"/>
          </p:nvPr>
        </p:nvSpPr>
        <p:spPr/>
        <p:txBody>
          <a:bodyPr/>
          <a:lstStyle/>
          <a:p>
            <a:r>
              <a:rPr lang="en-US"/>
              <a:t>Click to edit Master title style</a:t>
            </a:r>
            <a:endParaRPr lang="en-ZA"/>
          </a:p>
        </p:txBody>
      </p:sp>
      <p:sp>
        <p:nvSpPr>
          <p:cNvPr id="3" name="Date Placeholder 2">
            <a:extLst>
              <a:ext uri="{FF2B5EF4-FFF2-40B4-BE49-F238E27FC236}">
                <a16:creationId xmlns:a16="http://schemas.microsoft.com/office/drawing/2014/main" id="{7F1BC211-E19E-6F1C-661D-EF5268D6299E}"/>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4" name="Footer Placeholder 3">
            <a:extLst>
              <a:ext uri="{FF2B5EF4-FFF2-40B4-BE49-F238E27FC236}">
                <a16:creationId xmlns:a16="http://schemas.microsoft.com/office/drawing/2014/main" id="{92312D61-FA0A-33B6-FE5C-815DE8E6703E}"/>
              </a:ext>
            </a:extLst>
          </p:cNvPr>
          <p:cNvSpPr>
            <a:spLocks noGrp="1"/>
          </p:cNvSpPr>
          <p:nvPr>
            <p:ph type="ftr" sz="quarter" idx="11"/>
          </p:nvPr>
        </p:nvSpPr>
        <p:spPr/>
        <p:txBody>
          <a:bodyPr/>
          <a:lstStyle/>
          <a:p>
            <a:endParaRPr lang="en-ZA"/>
          </a:p>
        </p:txBody>
      </p:sp>
      <p:sp>
        <p:nvSpPr>
          <p:cNvPr id="5" name="Slide Number Placeholder 4">
            <a:extLst>
              <a:ext uri="{FF2B5EF4-FFF2-40B4-BE49-F238E27FC236}">
                <a16:creationId xmlns:a16="http://schemas.microsoft.com/office/drawing/2014/main" id="{223DC757-CC2B-069D-FC76-11AB9B828EC6}"/>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4267946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79413F-9C6C-6402-BFFE-580A4EC2F6E7}"/>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3" name="Footer Placeholder 2">
            <a:extLst>
              <a:ext uri="{FF2B5EF4-FFF2-40B4-BE49-F238E27FC236}">
                <a16:creationId xmlns:a16="http://schemas.microsoft.com/office/drawing/2014/main" id="{CA8C6C98-FD58-280B-346E-36B45DEEEFF8}"/>
              </a:ext>
            </a:extLst>
          </p:cNvPr>
          <p:cNvSpPr>
            <a:spLocks noGrp="1"/>
          </p:cNvSpPr>
          <p:nvPr>
            <p:ph type="ftr" sz="quarter" idx="11"/>
          </p:nvPr>
        </p:nvSpPr>
        <p:spPr/>
        <p:txBody>
          <a:bodyPr/>
          <a:lstStyle/>
          <a:p>
            <a:endParaRPr lang="en-ZA"/>
          </a:p>
        </p:txBody>
      </p:sp>
      <p:sp>
        <p:nvSpPr>
          <p:cNvPr id="4" name="Slide Number Placeholder 3">
            <a:extLst>
              <a:ext uri="{FF2B5EF4-FFF2-40B4-BE49-F238E27FC236}">
                <a16:creationId xmlns:a16="http://schemas.microsoft.com/office/drawing/2014/main" id="{03B038D1-2705-0160-9E25-02D52D66E573}"/>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2545529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520E3-4EE5-81F2-31A5-0D57FBE195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Content Placeholder 2">
            <a:extLst>
              <a:ext uri="{FF2B5EF4-FFF2-40B4-BE49-F238E27FC236}">
                <a16:creationId xmlns:a16="http://schemas.microsoft.com/office/drawing/2014/main" id="{21A2B73A-03CA-3FA1-902C-B2A97847660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Text Placeholder 3">
            <a:extLst>
              <a:ext uri="{FF2B5EF4-FFF2-40B4-BE49-F238E27FC236}">
                <a16:creationId xmlns:a16="http://schemas.microsoft.com/office/drawing/2014/main" id="{DB42C392-A7D5-E44C-0A17-DF5486AB5B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C61D940-FAAB-FAA1-8FFD-6C7F28D2B366}"/>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6" name="Footer Placeholder 5">
            <a:extLst>
              <a:ext uri="{FF2B5EF4-FFF2-40B4-BE49-F238E27FC236}">
                <a16:creationId xmlns:a16="http://schemas.microsoft.com/office/drawing/2014/main" id="{85C7E310-F19C-45AA-3EEC-AF09469C1184}"/>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E34C916F-2A86-3175-2072-7D196EA69A27}"/>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778182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37846-EE30-F61B-D8B7-39F324E2F0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ZA"/>
          </a:p>
        </p:txBody>
      </p:sp>
      <p:sp>
        <p:nvSpPr>
          <p:cNvPr id="3" name="Picture Placeholder 2">
            <a:extLst>
              <a:ext uri="{FF2B5EF4-FFF2-40B4-BE49-F238E27FC236}">
                <a16:creationId xmlns:a16="http://schemas.microsoft.com/office/drawing/2014/main" id="{8A6234EB-24A2-572E-C17D-6FA40FE08C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a:p>
        </p:txBody>
      </p:sp>
      <p:sp>
        <p:nvSpPr>
          <p:cNvPr id="4" name="Text Placeholder 3">
            <a:extLst>
              <a:ext uri="{FF2B5EF4-FFF2-40B4-BE49-F238E27FC236}">
                <a16:creationId xmlns:a16="http://schemas.microsoft.com/office/drawing/2014/main" id="{E6EB9C03-F8DF-49BF-B46D-195B162CF4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037308-3B8C-3529-D1EF-B5F3335BA0EB}"/>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6" name="Footer Placeholder 5">
            <a:extLst>
              <a:ext uri="{FF2B5EF4-FFF2-40B4-BE49-F238E27FC236}">
                <a16:creationId xmlns:a16="http://schemas.microsoft.com/office/drawing/2014/main" id="{323BE780-BD76-D363-E0D3-1504DD779A43}"/>
              </a:ext>
            </a:extLst>
          </p:cNvPr>
          <p:cNvSpPr>
            <a:spLocks noGrp="1"/>
          </p:cNvSpPr>
          <p:nvPr>
            <p:ph type="ftr" sz="quarter" idx="11"/>
          </p:nvPr>
        </p:nvSpPr>
        <p:spPr/>
        <p:txBody>
          <a:bodyPr/>
          <a:lstStyle/>
          <a:p>
            <a:endParaRPr lang="en-ZA"/>
          </a:p>
        </p:txBody>
      </p:sp>
      <p:sp>
        <p:nvSpPr>
          <p:cNvPr id="7" name="Slide Number Placeholder 6">
            <a:extLst>
              <a:ext uri="{FF2B5EF4-FFF2-40B4-BE49-F238E27FC236}">
                <a16:creationId xmlns:a16="http://schemas.microsoft.com/office/drawing/2014/main" id="{4373945D-9DB8-234A-5810-958429C6FE1B}"/>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2679432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D6C3C9-CAED-4B68-BB2A-E23FAA47C4CA}"/>
              </a:ext>
            </a:extLst>
          </p:cNvPr>
          <p:cNvSpPr>
            <a:spLocks noGrp="1"/>
          </p:cNvSpPr>
          <p:nvPr>
            <p:ph type="title"/>
          </p:nvPr>
        </p:nvSpPr>
        <p:spPr/>
        <p:txBody>
          <a:bodyPr/>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4ECB16CB-276D-95EF-AB72-01E59A1923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6491DAEE-7F62-D2E7-F424-4829B9B5C912}"/>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5" name="Footer Placeholder 4">
            <a:extLst>
              <a:ext uri="{FF2B5EF4-FFF2-40B4-BE49-F238E27FC236}">
                <a16:creationId xmlns:a16="http://schemas.microsoft.com/office/drawing/2014/main" id="{E0AA6992-CC78-F8B4-53D5-6089C78BB0BC}"/>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22CAC2CD-5122-D8D9-06DA-FA0286753696}"/>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2264979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11A50A-0F60-CD1D-4558-3A27041863F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ZA"/>
          </a:p>
        </p:txBody>
      </p:sp>
      <p:sp>
        <p:nvSpPr>
          <p:cNvPr id="3" name="Vertical Text Placeholder 2">
            <a:extLst>
              <a:ext uri="{FF2B5EF4-FFF2-40B4-BE49-F238E27FC236}">
                <a16:creationId xmlns:a16="http://schemas.microsoft.com/office/drawing/2014/main" id="{BAF02893-AFE6-46C4-1CDE-8CCFF770FB2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7D46D996-C92A-3B97-EFD4-1BDCE07044D9}"/>
              </a:ext>
            </a:extLst>
          </p:cNvPr>
          <p:cNvSpPr>
            <a:spLocks noGrp="1"/>
          </p:cNvSpPr>
          <p:nvPr>
            <p:ph type="dt" sz="half" idx="10"/>
          </p:nvPr>
        </p:nvSpPr>
        <p:spPr/>
        <p:txBody>
          <a:bodyPr/>
          <a:lstStyle/>
          <a:p>
            <a:fld id="{94766648-2A14-4E8B-8C47-29973BA3978C}" type="datetimeFigureOut">
              <a:rPr lang="en-ZA" smtClean="0"/>
              <a:t>18/07/2026</a:t>
            </a:fld>
            <a:endParaRPr lang="en-ZA"/>
          </a:p>
        </p:txBody>
      </p:sp>
      <p:sp>
        <p:nvSpPr>
          <p:cNvPr id="5" name="Footer Placeholder 4">
            <a:extLst>
              <a:ext uri="{FF2B5EF4-FFF2-40B4-BE49-F238E27FC236}">
                <a16:creationId xmlns:a16="http://schemas.microsoft.com/office/drawing/2014/main" id="{E2123668-7ACC-F076-803C-1D581DACE049}"/>
              </a:ext>
            </a:extLst>
          </p:cNvPr>
          <p:cNvSpPr>
            <a:spLocks noGrp="1"/>
          </p:cNvSpPr>
          <p:nvPr>
            <p:ph type="ftr" sz="quarter" idx="11"/>
          </p:nvPr>
        </p:nvSpPr>
        <p:spPr/>
        <p:txBody>
          <a:bodyPr/>
          <a:lstStyle/>
          <a:p>
            <a:endParaRPr lang="en-ZA"/>
          </a:p>
        </p:txBody>
      </p:sp>
      <p:sp>
        <p:nvSpPr>
          <p:cNvPr id="6" name="Slide Number Placeholder 5">
            <a:extLst>
              <a:ext uri="{FF2B5EF4-FFF2-40B4-BE49-F238E27FC236}">
                <a16:creationId xmlns:a16="http://schemas.microsoft.com/office/drawing/2014/main" id="{8448DE03-4F18-DE49-0AF3-61CA84ABF713}"/>
              </a:ext>
            </a:extLst>
          </p:cNvPr>
          <p:cNvSpPr>
            <a:spLocks noGrp="1"/>
          </p:cNvSpPr>
          <p:nvPr>
            <p:ph type="sldNum" sz="quarter" idx="12"/>
          </p:nvPr>
        </p:nvSpPr>
        <p:spPr/>
        <p:txBody>
          <a:bodyPr/>
          <a:lstStyle/>
          <a:p>
            <a:fld id="{284524D6-70D8-4A9F-BC8A-FECDFFD2E925}" type="slidenum">
              <a:rPr lang="en-ZA" smtClean="0"/>
              <a:t>‹#›</a:t>
            </a:fld>
            <a:endParaRPr lang="en-ZA"/>
          </a:p>
        </p:txBody>
      </p:sp>
    </p:spTree>
    <p:extLst>
      <p:ext uri="{BB962C8B-B14F-4D97-AF65-F5344CB8AC3E}">
        <p14:creationId xmlns:p14="http://schemas.microsoft.com/office/powerpoint/2010/main" val="3229078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53561A-9117-391A-B571-CE4632E176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ZA"/>
          </a:p>
        </p:txBody>
      </p:sp>
      <p:sp>
        <p:nvSpPr>
          <p:cNvPr id="3" name="Text Placeholder 2">
            <a:extLst>
              <a:ext uri="{FF2B5EF4-FFF2-40B4-BE49-F238E27FC236}">
                <a16:creationId xmlns:a16="http://schemas.microsoft.com/office/drawing/2014/main" id="{81BFF678-ED0A-60E2-0A78-F9B67C8025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4" name="Date Placeholder 3">
            <a:extLst>
              <a:ext uri="{FF2B5EF4-FFF2-40B4-BE49-F238E27FC236}">
                <a16:creationId xmlns:a16="http://schemas.microsoft.com/office/drawing/2014/main" id="{8532440B-D75C-C4DE-A74A-36A2EE85B9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766648-2A14-4E8B-8C47-29973BA3978C}" type="datetimeFigureOut">
              <a:rPr lang="en-ZA" smtClean="0"/>
              <a:t>18/07/2026</a:t>
            </a:fld>
            <a:endParaRPr lang="en-ZA"/>
          </a:p>
        </p:txBody>
      </p:sp>
      <p:sp>
        <p:nvSpPr>
          <p:cNvPr id="5" name="Footer Placeholder 4">
            <a:extLst>
              <a:ext uri="{FF2B5EF4-FFF2-40B4-BE49-F238E27FC236}">
                <a16:creationId xmlns:a16="http://schemas.microsoft.com/office/drawing/2014/main" id="{C7FBDCB5-E874-51D1-3DF8-4FEAA18F18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a:p>
        </p:txBody>
      </p:sp>
      <p:sp>
        <p:nvSpPr>
          <p:cNvPr id="6" name="Slide Number Placeholder 5">
            <a:extLst>
              <a:ext uri="{FF2B5EF4-FFF2-40B4-BE49-F238E27FC236}">
                <a16:creationId xmlns:a16="http://schemas.microsoft.com/office/drawing/2014/main" id="{3CDF1E3E-E5CC-476D-74AA-881C6797CF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84524D6-70D8-4A9F-BC8A-FECDFFD2E925}" type="slidenum">
              <a:rPr lang="en-ZA" smtClean="0"/>
              <a:t>‹#›</a:t>
            </a:fld>
            <a:endParaRPr lang="en-ZA"/>
          </a:p>
        </p:txBody>
      </p:sp>
    </p:spTree>
    <p:extLst>
      <p:ext uri="{BB962C8B-B14F-4D97-AF65-F5344CB8AC3E}">
        <p14:creationId xmlns:p14="http://schemas.microsoft.com/office/powerpoint/2010/main" val="2132247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7853-2251-E7FA-7C56-1ADDCC73A152}"/>
              </a:ext>
            </a:extLst>
          </p:cNvPr>
          <p:cNvSpPr>
            <a:spLocks noGrp="1"/>
          </p:cNvSpPr>
          <p:nvPr>
            <p:ph type="ctrTitle"/>
          </p:nvPr>
        </p:nvSpPr>
        <p:spPr>
          <a:xfrm>
            <a:off x="1524000" y="1928133"/>
            <a:ext cx="9144000" cy="2387600"/>
          </a:xfrm>
        </p:spPr>
        <p:txBody>
          <a:bodyPr>
            <a:noAutofit/>
          </a:bodyPr>
          <a:lstStyle/>
          <a:p>
            <a:r>
              <a:rPr lang="en-ZA" sz="3200" b="1" dirty="0"/>
              <a:t>Name:</a:t>
            </a:r>
            <a:r>
              <a:rPr lang="en-ZA" sz="3200" dirty="0"/>
              <a:t> Rabia Sithole</a:t>
            </a:r>
            <a:br>
              <a:rPr lang="en-ZA" sz="3200" dirty="0"/>
            </a:br>
            <a:r>
              <a:rPr lang="en-ZA" sz="3200" b="1" dirty="0"/>
              <a:t>Student Number:</a:t>
            </a:r>
            <a:r>
              <a:rPr lang="en-ZA" sz="3200" dirty="0"/>
              <a:t> 2805002098</a:t>
            </a:r>
            <a:br>
              <a:rPr lang="en-ZA" sz="3200" dirty="0"/>
            </a:br>
            <a:r>
              <a:rPr lang="en-ZA" sz="3200" b="1" dirty="0"/>
              <a:t>Date:</a:t>
            </a:r>
            <a:r>
              <a:rPr lang="en-ZA" sz="3200" dirty="0"/>
              <a:t> 18 July 2026</a:t>
            </a:r>
          </a:p>
        </p:txBody>
      </p:sp>
      <p:sp>
        <p:nvSpPr>
          <p:cNvPr id="3" name="Subtitle 2">
            <a:extLst>
              <a:ext uri="{FF2B5EF4-FFF2-40B4-BE49-F238E27FC236}">
                <a16:creationId xmlns:a16="http://schemas.microsoft.com/office/drawing/2014/main" id="{35CFA0A7-ED85-70DF-83F0-E679A502FD04}"/>
              </a:ext>
            </a:extLst>
          </p:cNvPr>
          <p:cNvSpPr>
            <a:spLocks noGrp="1"/>
          </p:cNvSpPr>
          <p:nvPr>
            <p:ph type="subTitle" idx="1"/>
          </p:nvPr>
        </p:nvSpPr>
        <p:spPr>
          <a:xfrm>
            <a:off x="1676400" y="2058195"/>
            <a:ext cx="9144000" cy="1655762"/>
          </a:xfrm>
        </p:spPr>
        <p:txBody>
          <a:bodyPr>
            <a:normAutofit/>
          </a:bodyPr>
          <a:lstStyle/>
          <a:p>
            <a:r>
              <a:rPr lang="en-ZA" sz="4000" b="1" u="sng" dirty="0">
                <a:latin typeface="+mj-lt"/>
                <a:ea typeface="+mj-ea"/>
                <a:cs typeface="+mj-cs"/>
              </a:rPr>
              <a:t>Retail Sales Data Agent</a:t>
            </a:r>
          </a:p>
        </p:txBody>
      </p:sp>
    </p:spTree>
    <p:extLst>
      <p:ext uri="{BB962C8B-B14F-4D97-AF65-F5344CB8AC3E}">
        <p14:creationId xmlns:p14="http://schemas.microsoft.com/office/powerpoint/2010/main" val="492952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84D67A4-ECA6-450B-2813-37358F76F642}"/>
              </a:ext>
            </a:extLst>
          </p:cNvPr>
          <p:cNvSpPr txBox="1"/>
          <p:nvPr/>
        </p:nvSpPr>
        <p:spPr>
          <a:xfrm>
            <a:off x="0" y="0"/>
            <a:ext cx="12072257" cy="5078313"/>
          </a:xfrm>
          <a:prstGeom prst="rect">
            <a:avLst/>
          </a:prstGeom>
          <a:noFill/>
        </p:spPr>
        <p:txBody>
          <a:bodyPr wrap="square">
            <a:spAutoFit/>
          </a:bodyPr>
          <a:lstStyle/>
          <a:p>
            <a:r>
              <a:rPr lang="en-ZA" b="1" dirty="0"/>
              <a:t>Introduction &amp; Objective</a:t>
            </a:r>
          </a:p>
          <a:p>
            <a:endParaRPr lang="en-ZA" b="1" dirty="0"/>
          </a:p>
          <a:p>
            <a:r>
              <a:rPr lang="en-ZA" b="1" u="sng" dirty="0"/>
              <a:t>Introduction:</a:t>
            </a:r>
          </a:p>
          <a:p>
            <a:endParaRPr lang="en-ZA" b="1" dirty="0"/>
          </a:p>
          <a:p>
            <a:r>
              <a:rPr lang="en-ZA" dirty="0"/>
              <a:t>The Retail Sales Data Agent is a tool built in Databricks that helps users analyse retail sales data by simply asking questions in everyday language. Instead of writing complex SQL queries or manually searching through data, users can ask business-related questions and quickly receive useful insights about sales, customer buying habits, product performance, and revenue trends.</a:t>
            </a:r>
          </a:p>
          <a:p>
            <a:endParaRPr lang="en-ZA" dirty="0"/>
          </a:p>
          <a:p>
            <a:endParaRPr lang="en-ZA" dirty="0"/>
          </a:p>
          <a:p>
            <a:endParaRPr lang="en-ZA" dirty="0"/>
          </a:p>
          <a:p>
            <a:r>
              <a:rPr lang="en-ZA" b="1" u="sng" dirty="0"/>
              <a:t>Objective:</a:t>
            </a:r>
          </a:p>
          <a:p>
            <a:endParaRPr lang="en-ZA" b="1" dirty="0"/>
          </a:p>
          <a:p>
            <a:r>
              <a:rPr lang="en-ZA" dirty="0"/>
              <a:t>The aim of this project was to design and build a Retail Sales Data Agent that can answer common business questions using retail sales data. The project demonstrates how AI can make data analysis easier and more accessible for everyone, including users with little or no technical knowledge. By creating and training the agent with clear instructions and real business examples, the goal was to automate data analysis, provide quick access to valuable insights, support better business decisions, and show how AI can improve the efficiency of retail sales reporting and analysis.</a:t>
            </a:r>
          </a:p>
        </p:txBody>
      </p:sp>
    </p:spTree>
    <p:extLst>
      <p:ext uri="{BB962C8B-B14F-4D97-AF65-F5344CB8AC3E}">
        <p14:creationId xmlns:p14="http://schemas.microsoft.com/office/powerpoint/2010/main" val="2492961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28689-493B-0257-3AD4-3A79131E05E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8A9548D-0496-B174-E0E6-69D825C38016}"/>
              </a:ext>
            </a:extLst>
          </p:cNvPr>
          <p:cNvPicPr>
            <a:picLocks noChangeAspect="1"/>
          </p:cNvPicPr>
          <p:nvPr/>
        </p:nvPicPr>
        <p:blipFill>
          <a:blip r:embed="rId3"/>
          <a:stretch>
            <a:fillRect/>
          </a:stretch>
        </p:blipFill>
        <p:spPr>
          <a:xfrm>
            <a:off x="181391" y="840549"/>
            <a:ext cx="9067177" cy="4257086"/>
          </a:xfrm>
          <a:prstGeom prst="rect">
            <a:avLst/>
          </a:prstGeom>
          <a:ln>
            <a:solidFill>
              <a:schemeClr val="accent1"/>
            </a:solidFill>
          </a:ln>
        </p:spPr>
      </p:pic>
      <p:sp>
        <p:nvSpPr>
          <p:cNvPr id="7" name="TextBox 6">
            <a:extLst>
              <a:ext uri="{FF2B5EF4-FFF2-40B4-BE49-F238E27FC236}">
                <a16:creationId xmlns:a16="http://schemas.microsoft.com/office/drawing/2014/main" id="{D7EBFD27-648B-7BE7-722C-EA48EB3A5F15}"/>
              </a:ext>
            </a:extLst>
          </p:cNvPr>
          <p:cNvSpPr txBox="1"/>
          <p:nvPr/>
        </p:nvSpPr>
        <p:spPr>
          <a:xfrm>
            <a:off x="0" y="92661"/>
            <a:ext cx="12178590" cy="369332"/>
          </a:xfrm>
          <a:prstGeom prst="rect">
            <a:avLst/>
          </a:prstGeom>
          <a:noFill/>
        </p:spPr>
        <p:txBody>
          <a:bodyPr wrap="none" rtlCol="0">
            <a:spAutoFit/>
          </a:bodyPr>
          <a:lstStyle/>
          <a:p>
            <a:r>
              <a:rPr lang="en-ZA" dirty="0"/>
              <a:t>1-3 .This is a visual representation oof the successfully loaded retail data set on Databricks. Rows and columns reviewed.  </a:t>
            </a:r>
          </a:p>
        </p:txBody>
      </p:sp>
      <p:sp>
        <p:nvSpPr>
          <p:cNvPr id="8" name="Oval 7">
            <a:extLst>
              <a:ext uri="{FF2B5EF4-FFF2-40B4-BE49-F238E27FC236}">
                <a16:creationId xmlns:a16="http://schemas.microsoft.com/office/drawing/2014/main" id="{72C8CD4E-A2B6-F354-53EF-5654A6F283FB}"/>
              </a:ext>
            </a:extLst>
          </p:cNvPr>
          <p:cNvSpPr/>
          <p:nvPr/>
        </p:nvSpPr>
        <p:spPr>
          <a:xfrm>
            <a:off x="1245761" y="5464629"/>
            <a:ext cx="1393372" cy="1295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000" dirty="0"/>
              <a:t>1. Dateset loaded on Databricks: </a:t>
            </a:r>
            <a:r>
              <a:rPr lang="en-ZA" sz="1000" dirty="0" err="1"/>
              <a:t>retail_dataset</a:t>
            </a:r>
            <a:endParaRPr lang="en-ZA" sz="1000" dirty="0"/>
          </a:p>
        </p:txBody>
      </p:sp>
      <p:sp>
        <p:nvSpPr>
          <p:cNvPr id="13" name="Arrow: Right 12">
            <a:extLst>
              <a:ext uri="{FF2B5EF4-FFF2-40B4-BE49-F238E27FC236}">
                <a16:creationId xmlns:a16="http://schemas.microsoft.com/office/drawing/2014/main" id="{BCD6EF03-D749-A060-AD68-12E604D5A9AD}"/>
              </a:ext>
            </a:extLst>
          </p:cNvPr>
          <p:cNvSpPr/>
          <p:nvPr/>
        </p:nvSpPr>
        <p:spPr>
          <a:xfrm rot="18048456">
            <a:off x="5166425" y="2920105"/>
            <a:ext cx="679204" cy="979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 name="Oval 13">
            <a:extLst>
              <a:ext uri="{FF2B5EF4-FFF2-40B4-BE49-F238E27FC236}">
                <a16:creationId xmlns:a16="http://schemas.microsoft.com/office/drawing/2014/main" id="{3FDF3147-A319-3E55-24D7-4C0628E0337B}"/>
              </a:ext>
            </a:extLst>
          </p:cNvPr>
          <p:cNvSpPr/>
          <p:nvPr/>
        </p:nvSpPr>
        <p:spPr>
          <a:xfrm>
            <a:off x="9644743" y="3088949"/>
            <a:ext cx="1435913" cy="13441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000" dirty="0"/>
              <a:t>2. Columns  reviewed to understand the type of data available in the dataset.</a:t>
            </a:r>
          </a:p>
        </p:txBody>
      </p:sp>
      <p:sp>
        <p:nvSpPr>
          <p:cNvPr id="15" name="Arrow: Right 14">
            <a:extLst>
              <a:ext uri="{FF2B5EF4-FFF2-40B4-BE49-F238E27FC236}">
                <a16:creationId xmlns:a16="http://schemas.microsoft.com/office/drawing/2014/main" id="{FBB89594-FC22-96AF-F7D0-39AF254ABC24}"/>
              </a:ext>
            </a:extLst>
          </p:cNvPr>
          <p:cNvSpPr/>
          <p:nvPr/>
        </p:nvSpPr>
        <p:spPr>
          <a:xfrm rot="3151709">
            <a:off x="1066801" y="5293977"/>
            <a:ext cx="553865" cy="11974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6" name="Arrow: Right 15">
            <a:extLst>
              <a:ext uri="{FF2B5EF4-FFF2-40B4-BE49-F238E27FC236}">
                <a16:creationId xmlns:a16="http://schemas.microsoft.com/office/drawing/2014/main" id="{0DEB00F2-B9C4-ECC7-A7A3-3B6FF512013E}"/>
              </a:ext>
            </a:extLst>
          </p:cNvPr>
          <p:cNvSpPr/>
          <p:nvPr/>
        </p:nvSpPr>
        <p:spPr>
          <a:xfrm>
            <a:off x="8965539" y="3712029"/>
            <a:ext cx="679204" cy="9797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7" name="Oval 16">
            <a:extLst>
              <a:ext uri="{FF2B5EF4-FFF2-40B4-BE49-F238E27FC236}">
                <a16:creationId xmlns:a16="http://schemas.microsoft.com/office/drawing/2014/main" id="{09B9A685-5E59-C92F-AAF2-3E07F432266A}"/>
              </a:ext>
            </a:extLst>
          </p:cNvPr>
          <p:cNvSpPr/>
          <p:nvPr/>
        </p:nvSpPr>
        <p:spPr>
          <a:xfrm>
            <a:off x="5506027" y="1525877"/>
            <a:ext cx="1435913" cy="13441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1000" dirty="0"/>
              <a:t>3.Ran a code to retrieve all columns and all rows from my table . </a:t>
            </a:r>
          </a:p>
        </p:txBody>
      </p:sp>
    </p:spTree>
    <p:extLst>
      <p:ext uri="{BB962C8B-B14F-4D97-AF65-F5344CB8AC3E}">
        <p14:creationId xmlns:p14="http://schemas.microsoft.com/office/powerpoint/2010/main" val="338146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E57684F0-B2FF-E710-42D3-687529EFADE9}"/>
              </a:ext>
            </a:extLst>
          </p:cNvPr>
          <p:cNvSpPr txBox="1"/>
          <p:nvPr/>
        </p:nvSpPr>
        <p:spPr>
          <a:xfrm>
            <a:off x="108855" y="-27568"/>
            <a:ext cx="11419115" cy="2031325"/>
          </a:xfrm>
          <a:prstGeom prst="rect">
            <a:avLst/>
          </a:prstGeom>
          <a:noFill/>
        </p:spPr>
        <p:txBody>
          <a:bodyPr wrap="square">
            <a:spAutoFit/>
          </a:bodyPr>
          <a:lstStyle/>
          <a:p>
            <a:r>
              <a:rPr lang="en-ZA" dirty="0"/>
              <a:t> </a:t>
            </a:r>
            <a:r>
              <a:rPr lang="en-ZA" b="1" u="sng" dirty="0"/>
              <a:t>Dataset Description</a:t>
            </a:r>
            <a:br>
              <a:rPr lang="en-ZA" dirty="0"/>
            </a:br>
            <a:br>
              <a:rPr lang="en-ZA" dirty="0"/>
            </a:br>
            <a:r>
              <a:rPr lang="en-ZA" dirty="0"/>
              <a:t>The Retail Data dataset contains information about retail sales transactions. It is used to understand customer data in terms of purchasing behaviour, track sales performance, and identify product and revenue trends.</a:t>
            </a:r>
          </a:p>
          <a:p>
            <a:r>
              <a:rPr lang="en-ZA" dirty="0"/>
              <a:t>All columns reviewed and understood </a:t>
            </a:r>
          </a:p>
          <a:p>
            <a:endParaRPr lang="en-ZA" dirty="0"/>
          </a:p>
          <a:p>
            <a:r>
              <a:rPr lang="en-ZA" dirty="0"/>
              <a:t>		</a:t>
            </a:r>
          </a:p>
        </p:txBody>
      </p:sp>
      <p:cxnSp>
        <p:nvCxnSpPr>
          <p:cNvPr id="10" name="Straight Connector 9">
            <a:extLst>
              <a:ext uri="{FF2B5EF4-FFF2-40B4-BE49-F238E27FC236}">
                <a16:creationId xmlns:a16="http://schemas.microsoft.com/office/drawing/2014/main" id="{2C2ABEB5-D049-F0B1-071B-AC74EAFCD4C2}"/>
              </a:ext>
            </a:extLst>
          </p:cNvPr>
          <p:cNvCxnSpPr>
            <a:cxnSpLocks/>
          </p:cNvCxnSpPr>
          <p:nvPr/>
        </p:nvCxnSpPr>
        <p:spPr>
          <a:xfrm flipV="1">
            <a:off x="185055" y="2098223"/>
            <a:ext cx="7058226" cy="62024"/>
          </a:xfrm>
          <a:prstGeom prst="line">
            <a:avLst/>
          </a:prstGeom>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0FF1506A-246B-41D7-518C-0CAC59E9F18C}"/>
              </a:ext>
            </a:extLst>
          </p:cNvPr>
          <p:cNvCxnSpPr>
            <a:cxnSpLocks/>
          </p:cNvCxnSpPr>
          <p:nvPr/>
        </p:nvCxnSpPr>
        <p:spPr>
          <a:xfrm>
            <a:off x="2227358" y="1673832"/>
            <a:ext cx="0" cy="3763452"/>
          </a:xfrm>
          <a:prstGeom prst="line">
            <a:avLst/>
          </a:prstGeom>
        </p:spPr>
        <p:style>
          <a:lnRef idx="2">
            <a:schemeClr val="dk1"/>
          </a:lnRef>
          <a:fillRef idx="0">
            <a:schemeClr val="dk1"/>
          </a:fillRef>
          <a:effectRef idx="1">
            <a:schemeClr val="dk1"/>
          </a:effectRef>
          <a:fontRef idx="minor">
            <a:schemeClr val="tx1"/>
          </a:fontRef>
        </p:style>
      </p:cxnSp>
      <p:graphicFrame>
        <p:nvGraphicFramePr>
          <p:cNvPr id="31" name="Table 30">
            <a:extLst>
              <a:ext uri="{FF2B5EF4-FFF2-40B4-BE49-F238E27FC236}">
                <a16:creationId xmlns:a16="http://schemas.microsoft.com/office/drawing/2014/main" id="{70CBDCFD-4160-294A-7CD7-50316FEA9C09}"/>
              </a:ext>
            </a:extLst>
          </p:cNvPr>
          <p:cNvGraphicFramePr>
            <a:graphicFrameLocks noGrp="1"/>
          </p:cNvGraphicFramePr>
          <p:nvPr>
            <p:extLst>
              <p:ext uri="{D42A27DB-BD31-4B8C-83A1-F6EECF244321}">
                <p14:modId xmlns:p14="http://schemas.microsoft.com/office/powerpoint/2010/main" val="2674772866"/>
              </p:ext>
            </p:extLst>
          </p:nvPr>
        </p:nvGraphicFramePr>
        <p:xfrm>
          <a:off x="185055" y="1779684"/>
          <a:ext cx="10515600" cy="3657600"/>
        </p:xfrm>
        <a:graphic>
          <a:graphicData uri="http://schemas.openxmlformats.org/drawingml/2006/table">
            <a:tbl>
              <a:tblPr/>
              <a:tblGrid>
                <a:gridCol w="2307774">
                  <a:extLst>
                    <a:ext uri="{9D8B030D-6E8A-4147-A177-3AD203B41FA5}">
                      <a16:colId xmlns:a16="http://schemas.microsoft.com/office/drawing/2014/main" val="2067079304"/>
                    </a:ext>
                  </a:extLst>
                </a:gridCol>
                <a:gridCol w="8207826">
                  <a:extLst>
                    <a:ext uri="{9D8B030D-6E8A-4147-A177-3AD203B41FA5}">
                      <a16:colId xmlns:a16="http://schemas.microsoft.com/office/drawing/2014/main" val="3754004960"/>
                    </a:ext>
                  </a:extLst>
                </a:gridCol>
              </a:tblGrid>
              <a:tr h="0">
                <a:tc>
                  <a:txBody>
                    <a:bodyPr/>
                    <a:lstStyle/>
                    <a:p>
                      <a:pPr>
                        <a:buNone/>
                      </a:pPr>
                      <a:r>
                        <a:rPr lang="en-ZA" b="1" dirty="0"/>
                        <a:t>Column</a:t>
                      </a:r>
                    </a:p>
                  </a:txBody>
                  <a:tcPr anchor="ctr">
                    <a:lnL>
                      <a:noFill/>
                    </a:lnL>
                    <a:lnR>
                      <a:noFill/>
                    </a:lnR>
                    <a:lnT>
                      <a:noFill/>
                    </a:lnT>
                    <a:lnB>
                      <a:noFill/>
                    </a:lnB>
                    <a:noFill/>
                  </a:tcPr>
                </a:tc>
                <a:tc>
                  <a:txBody>
                    <a:bodyPr/>
                    <a:lstStyle/>
                    <a:p>
                      <a:pPr>
                        <a:buNone/>
                      </a:pPr>
                      <a:r>
                        <a:rPr lang="en-ZA" b="1" dirty="0"/>
                        <a:t>Description</a:t>
                      </a:r>
                    </a:p>
                  </a:txBody>
                  <a:tcPr anchor="ctr">
                    <a:lnL>
                      <a:noFill/>
                    </a:lnL>
                    <a:lnR>
                      <a:noFill/>
                    </a:lnR>
                    <a:lnT>
                      <a:noFill/>
                    </a:lnT>
                    <a:lnB>
                      <a:noFill/>
                    </a:lnB>
                    <a:noFill/>
                  </a:tcPr>
                </a:tc>
                <a:extLst>
                  <a:ext uri="{0D108BD9-81ED-4DB2-BD59-A6C34878D82A}">
                    <a16:rowId xmlns:a16="http://schemas.microsoft.com/office/drawing/2014/main" val="2975124007"/>
                  </a:ext>
                </a:extLst>
              </a:tr>
              <a:tr h="0">
                <a:tc>
                  <a:txBody>
                    <a:bodyPr/>
                    <a:lstStyle/>
                    <a:p>
                      <a:pPr>
                        <a:buNone/>
                      </a:pPr>
                      <a:r>
                        <a:rPr lang="en-ZA" dirty="0"/>
                        <a:t>Transaction ID</a:t>
                      </a:r>
                    </a:p>
                  </a:txBody>
                  <a:tcPr anchor="ctr">
                    <a:lnL>
                      <a:noFill/>
                    </a:lnL>
                    <a:lnR>
                      <a:noFill/>
                    </a:lnR>
                    <a:lnT>
                      <a:noFill/>
                    </a:lnT>
                    <a:lnB>
                      <a:noFill/>
                    </a:lnB>
                    <a:noFill/>
                  </a:tcPr>
                </a:tc>
                <a:tc>
                  <a:txBody>
                    <a:bodyPr/>
                    <a:lstStyle/>
                    <a:p>
                      <a:pPr>
                        <a:buNone/>
                      </a:pPr>
                      <a:r>
                        <a:rPr lang="en-ZA" dirty="0"/>
                        <a:t>Unique identifier for each sale.</a:t>
                      </a:r>
                    </a:p>
                  </a:txBody>
                  <a:tcPr anchor="ctr">
                    <a:lnL>
                      <a:noFill/>
                    </a:lnL>
                    <a:lnR>
                      <a:noFill/>
                    </a:lnR>
                    <a:lnT>
                      <a:noFill/>
                    </a:lnT>
                    <a:lnB>
                      <a:noFill/>
                    </a:lnB>
                    <a:noFill/>
                  </a:tcPr>
                </a:tc>
                <a:extLst>
                  <a:ext uri="{0D108BD9-81ED-4DB2-BD59-A6C34878D82A}">
                    <a16:rowId xmlns:a16="http://schemas.microsoft.com/office/drawing/2014/main" val="2440243238"/>
                  </a:ext>
                </a:extLst>
              </a:tr>
              <a:tr h="0">
                <a:tc>
                  <a:txBody>
                    <a:bodyPr/>
                    <a:lstStyle/>
                    <a:p>
                      <a:pPr>
                        <a:buNone/>
                      </a:pPr>
                      <a:r>
                        <a:rPr lang="en-ZA" dirty="0"/>
                        <a:t>Date</a:t>
                      </a:r>
                    </a:p>
                  </a:txBody>
                  <a:tcPr anchor="ctr">
                    <a:lnL>
                      <a:noFill/>
                    </a:lnL>
                    <a:lnR>
                      <a:noFill/>
                    </a:lnR>
                    <a:lnT>
                      <a:noFill/>
                    </a:lnT>
                    <a:lnB>
                      <a:noFill/>
                    </a:lnB>
                    <a:noFill/>
                  </a:tcPr>
                </a:tc>
                <a:tc>
                  <a:txBody>
                    <a:bodyPr/>
                    <a:lstStyle/>
                    <a:p>
                      <a:pPr>
                        <a:buNone/>
                      </a:pPr>
                      <a:r>
                        <a:rPr lang="en-ZA" dirty="0"/>
                        <a:t>Date the transaction occurred.</a:t>
                      </a:r>
                    </a:p>
                  </a:txBody>
                  <a:tcPr anchor="ctr">
                    <a:lnL>
                      <a:noFill/>
                    </a:lnL>
                    <a:lnR>
                      <a:noFill/>
                    </a:lnR>
                    <a:lnT>
                      <a:noFill/>
                    </a:lnT>
                    <a:lnB>
                      <a:noFill/>
                    </a:lnB>
                    <a:noFill/>
                  </a:tcPr>
                </a:tc>
                <a:extLst>
                  <a:ext uri="{0D108BD9-81ED-4DB2-BD59-A6C34878D82A}">
                    <a16:rowId xmlns:a16="http://schemas.microsoft.com/office/drawing/2014/main" val="1992346440"/>
                  </a:ext>
                </a:extLst>
              </a:tr>
              <a:tr h="0">
                <a:tc>
                  <a:txBody>
                    <a:bodyPr/>
                    <a:lstStyle/>
                    <a:p>
                      <a:pPr>
                        <a:buNone/>
                      </a:pPr>
                      <a:r>
                        <a:rPr lang="en-ZA" dirty="0"/>
                        <a:t>Customer ID</a:t>
                      </a:r>
                    </a:p>
                  </a:txBody>
                  <a:tcPr anchor="ctr">
                    <a:lnL>
                      <a:noFill/>
                    </a:lnL>
                    <a:lnR>
                      <a:noFill/>
                    </a:lnR>
                    <a:lnT>
                      <a:noFill/>
                    </a:lnT>
                    <a:lnB>
                      <a:noFill/>
                    </a:lnB>
                    <a:noFill/>
                  </a:tcPr>
                </a:tc>
                <a:tc>
                  <a:txBody>
                    <a:bodyPr/>
                    <a:lstStyle/>
                    <a:p>
                      <a:pPr>
                        <a:buNone/>
                      </a:pPr>
                      <a:r>
                        <a:rPr lang="en-ZA" dirty="0"/>
                        <a:t>Unique identifier for each customer.</a:t>
                      </a:r>
                    </a:p>
                  </a:txBody>
                  <a:tcPr anchor="ctr">
                    <a:lnL>
                      <a:noFill/>
                    </a:lnL>
                    <a:lnR>
                      <a:noFill/>
                    </a:lnR>
                    <a:lnT>
                      <a:noFill/>
                    </a:lnT>
                    <a:lnB>
                      <a:noFill/>
                    </a:lnB>
                    <a:noFill/>
                  </a:tcPr>
                </a:tc>
                <a:extLst>
                  <a:ext uri="{0D108BD9-81ED-4DB2-BD59-A6C34878D82A}">
                    <a16:rowId xmlns:a16="http://schemas.microsoft.com/office/drawing/2014/main" val="2959252095"/>
                  </a:ext>
                </a:extLst>
              </a:tr>
              <a:tr h="0">
                <a:tc>
                  <a:txBody>
                    <a:bodyPr/>
                    <a:lstStyle/>
                    <a:p>
                      <a:pPr>
                        <a:buNone/>
                      </a:pPr>
                      <a:r>
                        <a:rPr lang="en-ZA" dirty="0"/>
                        <a:t>Gender</a:t>
                      </a:r>
                    </a:p>
                  </a:txBody>
                  <a:tcPr anchor="ctr">
                    <a:lnL>
                      <a:noFill/>
                    </a:lnL>
                    <a:lnR>
                      <a:noFill/>
                    </a:lnR>
                    <a:lnT>
                      <a:noFill/>
                    </a:lnT>
                    <a:lnB>
                      <a:noFill/>
                    </a:lnB>
                    <a:noFill/>
                  </a:tcPr>
                </a:tc>
                <a:tc>
                  <a:txBody>
                    <a:bodyPr/>
                    <a:lstStyle/>
                    <a:p>
                      <a:pPr>
                        <a:buNone/>
                      </a:pPr>
                      <a:r>
                        <a:rPr lang="en-ZA" dirty="0"/>
                        <a:t>Customer's gender (Male or Female).</a:t>
                      </a:r>
                    </a:p>
                  </a:txBody>
                  <a:tcPr anchor="ctr">
                    <a:lnL>
                      <a:noFill/>
                    </a:lnL>
                    <a:lnR>
                      <a:noFill/>
                    </a:lnR>
                    <a:lnT>
                      <a:noFill/>
                    </a:lnT>
                    <a:lnB>
                      <a:noFill/>
                    </a:lnB>
                    <a:noFill/>
                  </a:tcPr>
                </a:tc>
                <a:extLst>
                  <a:ext uri="{0D108BD9-81ED-4DB2-BD59-A6C34878D82A}">
                    <a16:rowId xmlns:a16="http://schemas.microsoft.com/office/drawing/2014/main" val="520039291"/>
                  </a:ext>
                </a:extLst>
              </a:tr>
              <a:tr h="0">
                <a:tc>
                  <a:txBody>
                    <a:bodyPr/>
                    <a:lstStyle/>
                    <a:p>
                      <a:pPr>
                        <a:buNone/>
                      </a:pPr>
                      <a:r>
                        <a:rPr lang="en-ZA" dirty="0"/>
                        <a:t>Age</a:t>
                      </a:r>
                    </a:p>
                  </a:txBody>
                  <a:tcPr anchor="ctr">
                    <a:lnL>
                      <a:noFill/>
                    </a:lnL>
                    <a:lnR>
                      <a:noFill/>
                    </a:lnR>
                    <a:lnT>
                      <a:noFill/>
                    </a:lnT>
                    <a:lnB>
                      <a:noFill/>
                    </a:lnB>
                    <a:noFill/>
                  </a:tcPr>
                </a:tc>
                <a:tc>
                  <a:txBody>
                    <a:bodyPr/>
                    <a:lstStyle/>
                    <a:p>
                      <a:pPr>
                        <a:buNone/>
                      </a:pPr>
                      <a:r>
                        <a:rPr lang="en-ZA" dirty="0"/>
                        <a:t>Customer's age.</a:t>
                      </a:r>
                    </a:p>
                  </a:txBody>
                  <a:tcPr anchor="ctr">
                    <a:lnL>
                      <a:noFill/>
                    </a:lnL>
                    <a:lnR>
                      <a:noFill/>
                    </a:lnR>
                    <a:lnT>
                      <a:noFill/>
                    </a:lnT>
                    <a:lnB>
                      <a:noFill/>
                    </a:lnB>
                    <a:noFill/>
                  </a:tcPr>
                </a:tc>
                <a:extLst>
                  <a:ext uri="{0D108BD9-81ED-4DB2-BD59-A6C34878D82A}">
                    <a16:rowId xmlns:a16="http://schemas.microsoft.com/office/drawing/2014/main" val="2352854311"/>
                  </a:ext>
                </a:extLst>
              </a:tr>
              <a:tr h="0">
                <a:tc>
                  <a:txBody>
                    <a:bodyPr/>
                    <a:lstStyle/>
                    <a:p>
                      <a:pPr>
                        <a:buNone/>
                      </a:pPr>
                      <a:r>
                        <a:rPr lang="en-ZA" dirty="0"/>
                        <a:t>Product Category</a:t>
                      </a:r>
                    </a:p>
                  </a:txBody>
                  <a:tcPr anchor="ctr">
                    <a:lnL>
                      <a:noFill/>
                    </a:lnL>
                    <a:lnR>
                      <a:noFill/>
                    </a:lnR>
                    <a:lnT>
                      <a:noFill/>
                    </a:lnT>
                    <a:lnB>
                      <a:noFill/>
                    </a:lnB>
                    <a:noFill/>
                  </a:tcPr>
                </a:tc>
                <a:tc>
                  <a:txBody>
                    <a:bodyPr/>
                    <a:lstStyle/>
                    <a:p>
                      <a:pPr>
                        <a:buNone/>
                      </a:pPr>
                      <a:r>
                        <a:rPr lang="en-ZA" dirty="0"/>
                        <a:t>Category of product purchased (Clothing, Beauty &amp; Electronics).</a:t>
                      </a:r>
                    </a:p>
                  </a:txBody>
                  <a:tcPr anchor="ctr">
                    <a:lnL>
                      <a:noFill/>
                    </a:lnL>
                    <a:lnR>
                      <a:noFill/>
                    </a:lnR>
                    <a:lnT>
                      <a:noFill/>
                    </a:lnT>
                    <a:lnB>
                      <a:noFill/>
                    </a:lnB>
                    <a:noFill/>
                  </a:tcPr>
                </a:tc>
                <a:extLst>
                  <a:ext uri="{0D108BD9-81ED-4DB2-BD59-A6C34878D82A}">
                    <a16:rowId xmlns:a16="http://schemas.microsoft.com/office/drawing/2014/main" val="1808247937"/>
                  </a:ext>
                </a:extLst>
              </a:tr>
              <a:tr h="0">
                <a:tc>
                  <a:txBody>
                    <a:bodyPr/>
                    <a:lstStyle/>
                    <a:p>
                      <a:pPr>
                        <a:buNone/>
                      </a:pPr>
                      <a:r>
                        <a:rPr lang="en-ZA" dirty="0"/>
                        <a:t>Quantity</a:t>
                      </a:r>
                    </a:p>
                  </a:txBody>
                  <a:tcPr anchor="ctr">
                    <a:lnL>
                      <a:noFill/>
                    </a:lnL>
                    <a:lnR>
                      <a:noFill/>
                    </a:lnR>
                    <a:lnT>
                      <a:noFill/>
                    </a:lnT>
                    <a:lnB>
                      <a:noFill/>
                    </a:lnB>
                    <a:noFill/>
                  </a:tcPr>
                </a:tc>
                <a:tc>
                  <a:txBody>
                    <a:bodyPr/>
                    <a:lstStyle/>
                    <a:p>
                      <a:pPr>
                        <a:buNone/>
                      </a:pPr>
                      <a:r>
                        <a:rPr lang="en-ZA" dirty="0"/>
                        <a:t>Number of items purchased.</a:t>
                      </a:r>
                    </a:p>
                  </a:txBody>
                  <a:tcPr anchor="ctr">
                    <a:lnL>
                      <a:noFill/>
                    </a:lnL>
                    <a:lnR>
                      <a:noFill/>
                    </a:lnR>
                    <a:lnT>
                      <a:noFill/>
                    </a:lnT>
                    <a:lnB>
                      <a:noFill/>
                    </a:lnB>
                    <a:noFill/>
                  </a:tcPr>
                </a:tc>
                <a:extLst>
                  <a:ext uri="{0D108BD9-81ED-4DB2-BD59-A6C34878D82A}">
                    <a16:rowId xmlns:a16="http://schemas.microsoft.com/office/drawing/2014/main" val="3685570169"/>
                  </a:ext>
                </a:extLst>
              </a:tr>
              <a:tr h="0">
                <a:tc>
                  <a:txBody>
                    <a:bodyPr/>
                    <a:lstStyle/>
                    <a:p>
                      <a:pPr>
                        <a:buNone/>
                      </a:pPr>
                      <a:r>
                        <a:rPr lang="en-ZA" dirty="0"/>
                        <a:t>Price per Unit</a:t>
                      </a:r>
                    </a:p>
                  </a:txBody>
                  <a:tcPr anchor="ctr">
                    <a:lnL>
                      <a:noFill/>
                    </a:lnL>
                    <a:lnR>
                      <a:noFill/>
                    </a:lnR>
                    <a:lnT>
                      <a:noFill/>
                    </a:lnT>
                    <a:lnB>
                      <a:noFill/>
                    </a:lnB>
                    <a:noFill/>
                  </a:tcPr>
                </a:tc>
                <a:tc>
                  <a:txBody>
                    <a:bodyPr/>
                    <a:lstStyle/>
                    <a:p>
                      <a:pPr>
                        <a:buNone/>
                      </a:pPr>
                      <a:r>
                        <a:rPr lang="en-ZA" dirty="0"/>
                        <a:t>Cost of one unit of the product.</a:t>
                      </a:r>
                    </a:p>
                  </a:txBody>
                  <a:tcPr anchor="ctr">
                    <a:lnL>
                      <a:noFill/>
                    </a:lnL>
                    <a:lnR>
                      <a:noFill/>
                    </a:lnR>
                    <a:lnT>
                      <a:noFill/>
                    </a:lnT>
                    <a:lnB>
                      <a:noFill/>
                    </a:lnB>
                    <a:noFill/>
                  </a:tcPr>
                </a:tc>
                <a:extLst>
                  <a:ext uri="{0D108BD9-81ED-4DB2-BD59-A6C34878D82A}">
                    <a16:rowId xmlns:a16="http://schemas.microsoft.com/office/drawing/2014/main" val="3165820325"/>
                  </a:ext>
                </a:extLst>
              </a:tr>
              <a:tr h="0">
                <a:tc>
                  <a:txBody>
                    <a:bodyPr/>
                    <a:lstStyle/>
                    <a:p>
                      <a:pPr>
                        <a:buNone/>
                      </a:pPr>
                      <a:r>
                        <a:rPr lang="en-ZA" dirty="0"/>
                        <a:t>Total Amount</a:t>
                      </a:r>
                    </a:p>
                  </a:txBody>
                  <a:tcPr anchor="ctr">
                    <a:lnL>
                      <a:noFill/>
                    </a:lnL>
                    <a:lnR>
                      <a:noFill/>
                    </a:lnR>
                    <a:lnT>
                      <a:noFill/>
                    </a:lnT>
                    <a:lnB>
                      <a:noFill/>
                    </a:lnB>
                    <a:noFill/>
                  </a:tcPr>
                </a:tc>
                <a:tc>
                  <a:txBody>
                    <a:bodyPr/>
                    <a:lstStyle/>
                    <a:p>
                      <a:pPr>
                        <a:buNone/>
                      </a:pPr>
                      <a:r>
                        <a:rPr lang="en-ZA" dirty="0"/>
                        <a:t>Total value of the transaction.</a:t>
                      </a:r>
                    </a:p>
                  </a:txBody>
                  <a:tcPr anchor="ctr">
                    <a:lnL>
                      <a:noFill/>
                    </a:lnL>
                    <a:lnR>
                      <a:noFill/>
                    </a:lnR>
                    <a:lnT>
                      <a:noFill/>
                    </a:lnT>
                    <a:lnB>
                      <a:noFill/>
                    </a:lnB>
                    <a:noFill/>
                  </a:tcPr>
                </a:tc>
                <a:extLst>
                  <a:ext uri="{0D108BD9-81ED-4DB2-BD59-A6C34878D82A}">
                    <a16:rowId xmlns:a16="http://schemas.microsoft.com/office/drawing/2014/main" val="3236907435"/>
                  </a:ext>
                </a:extLst>
              </a:tr>
            </a:tbl>
          </a:graphicData>
        </a:graphic>
      </p:graphicFrame>
    </p:spTree>
    <p:extLst>
      <p:ext uri="{BB962C8B-B14F-4D97-AF65-F5344CB8AC3E}">
        <p14:creationId xmlns:p14="http://schemas.microsoft.com/office/powerpoint/2010/main" val="372062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2354A-835D-000A-9710-724D0EAF099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706DADA-BB2D-8B1B-1041-07A4075CF506}"/>
              </a:ext>
            </a:extLst>
          </p:cNvPr>
          <p:cNvSpPr txBox="1"/>
          <p:nvPr/>
        </p:nvSpPr>
        <p:spPr>
          <a:xfrm>
            <a:off x="4898571" y="0"/>
            <a:ext cx="1283878" cy="369332"/>
          </a:xfrm>
          <a:prstGeom prst="rect">
            <a:avLst/>
          </a:prstGeom>
          <a:noFill/>
        </p:spPr>
        <p:txBody>
          <a:bodyPr wrap="none" rtlCol="0">
            <a:spAutoFit/>
          </a:bodyPr>
          <a:lstStyle/>
          <a:p>
            <a:r>
              <a:rPr lang="en-ZA" dirty="0"/>
              <a:t>Data Agent</a:t>
            </a:r>
          </a:p>
        </p:txBody>
      </p:sp>
      <p:pic>
        <p:nvPicPr>
          <p:cNvPr id="4" name="Picture 3">
            <a:extLst>
              <a:ext uri="{FF2B5EF4-FFF2-40B4-BE49-F238E27FC236}">
                <a16:creationId xmlns:a16="http://schemas.microsoft.com/office/drawing/2014/main" id="{365849C1-745E-F398-E4AE-950F2227F493}"/>
              </a:ext>
            </a:extLst>
          </p:cNvPr>
          <p:cNvPicPr>
            <a:picLocks noChangeAspect="1"/>
          </p:cNvPicPr>
          <p:nvPr/>
        </p:nvPicPr>
        <p:blipFill>
          <a:blip r:embed="rId2"/>
          <a:stretch>
            <a:fillRect/>
          </a:stretch>
        </p:blipFill>
        <p:spPr>
          <a:xfrm>
            <a:off x="148183" y="4002669"/>
            <a:ext cx="2839042" cy="1991659"/>
          </a:xfrm>
          <a:prstGeom prst="rect">
            <a:avLst/>
          </a:prstGeom>
        </p:spPr>
      </p:pic>
      <p:sp>
        <p:nvSpPr>
          <p:cNvPr id="5" name="Arrow: Right 4">
            <a:extLst>
              <a:ext uri="{FF2B5EF4-FFF2-40B4-BE49-F238E27FC236}">
                <a16:creationId xmlns:a16="http://schemas.microsoft.com/office/drawing/2014/main" id="{22F0F1D7-3314-E4F0-7E7F-2788476E38FF}"/>
              </a:ext>
            </a:extLst>
          </p:cNvPr>
          <p:cNvSpPr/>
          <p:nvPr/>
        </p:nvSpPr>
        <p:spPr>
          <a:xfrm rot="16200000">
            <a:off x="1468083" y="3583903"/>
            <a:ext cx="283029" cy="83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TextBox 5">
            <a:extLst>
              <a:ext uri="{FF2B5EF4-FFF2-40B4-BE49-F238E27FC236}">
                <a16:creationId xmlns:a16="http://schemas.microsoft.com/office/drawing/2014/main" id="{7BF8BAC2-D971-76A7-7D48-1BBA9F93125B}"/>
              </a:ext>
            </a:extLst>
          </p:cNvPr>
          <p:cNvSpPr txBox="1"/>
          <p:nvPr/>
        </p:nvSpPr>
        <p:spPr>
          <a:xfrm>
            <a:off x="7748" y="2393666"/>
            <a:ext cx="3722914" cy="923330"/>
          </a:xfrm>
          <a:prstGeom prst="rect">
            <a:avLst/>
          </a:prstGeom>
          <a:noFill/>
        </p:spPr>
        <p:txBody>
          <a:bodyPr wrap="square" rtlCol="0">
            <a:spAutoFit/>
          </a:bodyPr>
          <a:lstStyle/>
          <a:p>
            <a:r>
              <a:rPr lang="en-ZA" dirty="0"/>
              <a:t>Named my Data Agent:</a:t>
            </a:r>
          </a:p>
          <a:p>
            <a:r>
              <a:rPr lang="en-ZA" dirty="0"/>
              <a:t> </a:t>
            </a:r>
            <a:r>
              <a:rPr lang="en-ZA" b="1" dirty="0"/>
              <a:t>Retail Sales Data Agent</a:t>
            </a:r>
          </a:p>
          <a:p>
            <a:endParaRPr lang="en-ZA" dirty="0"/>
          </a:p>
        </p:txBody>
      </p:sp>
      <p:pic>
        <p:nvPicPr>
          <p:cNvPr id="8" name="Picture 7">
            <a:extLst>
              <a:ext uri="{FF2B5EF4-FFF2-40B4-BE49-F238E27FC236}">
                <a16:creationId xmlns:a16="http://schemas.microsoft.com/office/drawing/2014/main" id="{18ED14B3-EF30-4A2A-FD59-7A64993BCEA3}"/>
              </a:ext>
            </a:extLst>
          </p:cNvPr>
          <p:cNvPicPr>
            <a:picLocks noChangeAspect="1"/>
          </p:cNvPicPr>
          <p:nvPr/>
        </p:nvPicPr>
        <p:blipFill>
          <a:blip r:embed="rId3"/>
          <a:stretch>
            <a:fillRect/>
          </a:stretch>
        </p:blipFill>
        <p:spPr>
          <a:xfrm>
            <a:off x="3373563" y="3952992"/>
            <a:ext cx="3133801" cy="2091012"/>
          </a:xfrm>
          <a:prstGeom prst="rect">
            <a:avLst/>
          </a:prstGeom>
        </p:spPr>
      </p:pic>
      <p:sp>
        <p:nvSpPr>
          <p:cNvPr id="10" name="Arrow: Right 9">
            <a:extLst>
              <a:ext uri="{FF2B5EF4-FFF2-40B4-BE49-F238E27FC236}">
                <a16:creationId xmlns:a16="http://schemas.microsoft.com/office/drawing/2014/main" id="{79694367-89F5-9D38-3864-CFA164D25609}"/>
              </a:ext>
            </a:extLst>
          </p:cNvPr>
          <p:cNvSpPr/>
          <p:nvPr/>
        </p:nvSpPr>
        <p:spPr>
          <a:xfrm rot="16200000">
            <a:off x="4757056" y="3595641"/>
            <a:ext cx="283029" cy="837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3" name="TextBox 12">
            <a:extLst>
              <a:ext uri="{FF2B5EF4-FFF2-40B4-BE49-F238E27FC236}">
                <a16:creationId xmlns:a16="http://schemas.microsoft.com/office/drawing/2014/main" id="{E105CF64-1CD9-DC54-8F29-D2B511367ABD}"/>
              </a:ext>
            </a:extLst>
          </p:cNvPr>
          <p:cNvSpPr txBox="1"/>
          <p:nvPr/>
        </p:nvSpPr>
        <p:spPr>
          <a:xfrm>
            <a:off x="3247504" y="2304843"/>
            <a:ext cx="3722914" cy="1200329"/>
          </a:xfrm>
          <a:prstGeom prst="rect">
            <a:avLst/>
          </a:prstGeom>
          <a:noFill/>
        </p:spPr>
        <p:txBody>
          <a:bodyPr wrap="square" rtlCol="0">
            <a:spAutoFit/>
          </a:bodyPr>
          <a:lstStyle/>
          <a:p>
            <a:r>
              <a:rPr lang="en-ZA" dirty="0"/>
              <a:t>This is where my data is connected from under :</a:t>
            </a:r>
            <a:br>
              <a:rPr lang="en-ZA" dirty="0"/>
            </a:br>
            <a:r>
              <a:rPr lang="en-ZA" b="1" dirty="0"/>
              <a:t>Under Source</a:t>
            </a:r>
          </a:p>
          <a:p>
            <a:endParaRPr lang="en-ZA" dirty="0"/>
          </a:p>
        </p:txBody>
      </p:sp>
      <p:sp>
        <p:nvSpPr>
          <p:cNvPr id="14" name="Rectangle: Diagonal Corners Rounded 13">
            <a:extLst>
              <a:ext uri="{FF2B5EF4-FFF2-40B4-BE49-F238E27FC236}">
                <a16:creationId xmlns:a16="http://schemas.microsoft.com/office/drawing/2014/main" id="{47D44E1B-8776-4AC3-0F6A-10B2B2F0E46E}"/>
              </a:ext>
            </a:extLst>
          </p:cNvPr>
          <p:cNvSpPr/>
          <p:nvPr/>
        </p:nvSpPr>
        <p:spPr>
          <a:xfrm>
            <a:off x="791159" y="4924076"/>
            <a:ext cx="1856858" cy="74422"/>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5" name="TextBox 14">
            <a:extLst>
              <a:ext uri="{FF2B5EF4-FFF2-40B4-BE49-F238E27FC236}">
                <a16:creationId xmlns:a16="http://schemas.microsoft.com/office/drawing/2014/main" id="{2DB25E78-BAA2-DBAA-6164-F7D12059EBFA}"/>
              </a:ext>
            </a:extLst>
          </p:cNvPr>
          <p:cNvSpPr txBox="1"/>
          <p:nvPr/>
        </p:nvSpPr>
        <p:spPr>
          <a:xfrm>
            <a:off x="0" y="783167"/>
            <a:ext cx="11309763" cy="369332"/>
          </a:xfrm>
          <a:prstGeom prst="rect">
            <a:avLst/>
          </a:prstGeom>
          <a:noFill/>
        </p:spPr>
        <p:txBody>
          <a:bodyPr wrap="none" rtlCol="0">
            <a:spAutoFit/>
          </a:bodyPr>
          <a:lstStyle/>
          <a:p>
            <a:r>
              <a:rPr lang="en-ZA" b="1" u="sng" dirty="0"/>
              <a:t>This is just an overview of my agents name, my source and to confirm if my table is connected to my agent.  </a:t>
            </a:r>
          </a:p>
        </p:txBody>
      </p:sp>
      <p:pic>
        <p:nvPicPr>
          <p:cNvPr id="18" name="Picture 17">
            <a:extLst>
              <a:ext uri="{FF2B5EF4-FFF2-40B4-BE49-F238E27FC236}">
                <a16:creationId xmlns:a16="http://schemas.microsoft.com/office/drawing/2014/main" id="{95E7C2D8-69F7-DD22-EF98-02D5A1FEE8B8}"/>
              </a:ext>
            </a:extLst>
          </p:cNvPr>
          <p:cNvPicPr>
            <a:picLocks noChangeAspect="1"/>
          </p:cNvPicPr>
          <p:nvPr/>
        </p:nvPicPr>
        <p:blipFill>
          <a:blip r:embed="rId4"/>
          <a:stretch>
            <a:fillRect/>
          </a:stretch>
        </p:blipFill>
        <p:spPr>
          <a:xfrm>
            <a:off x="7356756" y="3457613"/>
            <a:ext cx="4582968" cy="2586391"/>
          </a:xfrm>
          <a:prstGeom prst="rect">
            <a:avLst/>
          </a:prstGeom>
        </p:spPr>
      </p:pic>
      <p:sp>
        <p:nvSpPr>
          <p:cNvPr id="20" name="Arrow: Right 19">
            <a:extLst>
              <a:ext uri="{FF2B5EF4-FFF2-40B4-BE49-F238E27FC236}">
                <a16:creationId xmlns:a16="http://schemas.microsoft.com/office/drawing/2014/main" id="{A7872D26-9459-986A-3C2A-596B795DEF45}"/>
              </a:ext>
            </a:extLst>
          </p:cNvPr>
          <p:cNvSpPr/>
          <p:nvPr/>
        </p:nvSpPr>
        <p:spPr>
          <a:xfrm rot="16200000">
            <a:off x="9825197" y="3373996"/>
            <a:ext cx="217687" cy="5278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7" name="TextBox 26">
            <a:extLst>
              <a:ext uri="{FF2B5EF4-FFF2-40B4-BE49-F238E27FC236}">
                <a16:creationId xmlns:a16="http://schemas.microsoft.com/office/drawing/2014/main" id="{7C29A468-2ADE-79D5-05A6-14078E521FB1}"/>
              </a:ext>
            </a:extLst>
          </p:cNvPr>
          <p:cNvSpPr txBox="1"/>
          <p:nvPr/>
        </p:nvSpPr>
        <p:spPr>
          <a:xfrm>
            <a:off x="8046193" y="2272226"/>
            <a:ext cx="3722914" cy="1200329"/>
          </a:xfrm>
          <a:prstGeom prst="rect">
            <a:avLst/>
          </a:prstGeom>
          <a:noFill/>
        </p:spPr>
        <p:txBody>
          <a:bodyPr wrap="square" rtlCol="0">
            <a:spAutoFit/>
          </a:bodyPr>
          <a:lstStyle/>
          <a:p>
            <a:r>
              <a:rPr lang="en-ZA" dirty="0"/>
              <a:t>Asked my agent question as a test run. </a:t>
            </a:r>
            <a:r>
              <a:rPr lang="en-ZA" b="1" dirty="0"/>
              <a:t>And confirmed these via coding on Databricks </a:t>
            </a:r>
          </a:p>
          <a:p>
            <a:endParaRPr lang="en-ZA" dirty="0"/>
          </a:p>
        </p:txBody>
      </p:sp>
    </p:spTree>
    <p:extLst>
      <p:ext uri="{BB962C8B-B14F-4D97-AF65-F5344CB8AC3E}">
        <p14:creationId xmlns:p14="http://schemas.microsoft.com/office/powerpoint/2010/main" val="16665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B740B4D-8522-681B-8543-E2A160BE98E1}"/>
              </a:ext>
            </a:extLst>
          </p:cNvPr>
          <p:cNvSpPr txBox="1"/>
          <p:nvPr/>
        </p:nvSpPr>
        <p:spPr>
          <a:xfrm>
            <a:off x="272143" y="185057"/>
            <a:ext cx="11016343" cy="646331"/>
          </a:xfrm>
          <a:prstGeom prst="rect">
            <a:avLst/>
          </a:prstGeom>
          <a:noFill/>
        </p:spPr>
        <p:txBody>
          <a:bodyPr wrap="square" rtlCol="0">
            <a:spAutoFit/>
          </a:bodyPr>
          <a:lstStyle/>
          <a:p>
            <a:r>
              <a:rPr lang="en-ZA" b="1" dirty="0"/>
              <a:t>These are the instructions I've given my agent to ensure it answers questions accurately and provides concise, data-driven responses.</a:t>
            </a:r>
          </a:p>
        </p:txBody>
      </p:sp>
      <p:pic>
        <p:nvPicPr>
          <p:cNvPr id="9" name="Picture 8">
            <a:extLst>
              <a:ext uri="{FF2B5EF4-FFF2-40B4-BE49-F238E27FC236}">
                <a16:creationId xmlns:a16="http://schemas.microsoft.com/office/drawing/2014/main" id="{DAB35C07-1272-CF34-FA4A-1C174C58D5D9}"/>
              </a:ext>
            </a:extLst>
          </p:cNvPr>
          <p:cNvPicPr>
            <a:picLocks noChangeAspect="1"/>
          </p:cNvPicPr>
          <p:nvPr/>
        </p:nvPicPr>
        <p:blipFill>
          <a:blip r:embed="rId2"/>
          <a:stretch>
            <a:fillRect/>
          </a:stretch>
        </p:blipFill>
        <p:spPr>
          <a:xfrm>
            <a:off x="272143" y="1006821"/>
            <a:ext cx="8713809" cy="5666122"/>
          </a:xfrm>
          <a:prstGeom prst="rect">
            <a:avLst/>
          </a:prstGeom>
        </p:spPr>
      </p:pic>
    </p:spTree>
    <p:extLst>
      <p:ext uri="{BB962C8B-B14F-4D97-AF65-F5344CB8AC3E}">
        <p14:creationId xmlns:p14="http://schemas.microsoft.com/office/powerpoint/2010/main" val="362952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E36B3AB-FD35-FE23-84A2-2DED1B030349}"/>
              </a:ext>
            </a:extLst>
          </p:cNvPr>
          <p:cNvPicPr>
            <a:picLocks noChangeAspect="1"/>
          </p:cNvPicPr>
          <p:nvPr/>
        </p:nvPicPr>
        <p:blipFill>
          <a:blip r:embed="rId2"/>
          <a:stretch>
            <a:fillRect/>
          </a:stretch>
        </p:blipFill>
        <p:spPr>
          <a:xfrm>
            <a:off x="24830" y="1003610"/>
            <a:ext cx="5859136" cy="1435487"/>
          </a:xfrm>
          <a:prstGeom prst="rect">
            <a:avLst/>
          </a:prstGeom>
        </p:spPr>
      </p:pic>
      <p:sp>
        <p:nvSpPr>
          <p:cNvPr id="34" name="Rectangle 33">
            <a:extLst>
              <a:ext uri="{FF2B5EF4-FFF2-40B4-BE49-F238E27FC236}">
                <a16:creationId xmlns:a16="http://schemas.microsoft.com/office/drawing/2014/main" id="{417CDA24-35F8-4540-8C52-3096D6D949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5FA75EC-B975-78F9-D8A2-3E070E566052}"/>
              </a:ext>
            </a:extLst>
          </p:cNvPr>
          <p:cNvPicPr>
            <a:picLocks noChangeAspect="1"/>
          </p:cNvPicPr>
          <p:nvPr/>
        </p:nvPicPr>
        <p:blipFill>
          <a:blip r:embed="rId3"/>
          <a:stretch>
            <a:fillRect/>
          </a:stretch>
        </p:blipFill>
        <p:spPr>
          <a:xfrm>
            <a:off x="6308034" y="470607"/>
            <a:ext cx="5112595" cy="2607423"/>
          </a:xfrm>
          <a:prstGeom prst="rect">
            <a:avLst/>
          </a:prstGeom>
        </p:spPr>
      </p:pic>
      <p:sp>
        <p:nvSpPr>
          <p:cNvPr id="36" name="Rectangle 35">
            <a:extLst>
              <a:ext uri="{FF2B5EF4-FFF2-40B4-BE49-F238E27FC236}">
                <a16:creationId xmlns:a16="http://schemas.microsoft.com/office/drawing/2014/main" id="{8658BFE0-4E65-4174-9C75-687C94E882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A75DFED-A0C1-4A83-BE1D-0271C1826E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6552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AC32D7B9-44E6-81DC-7863-3C71048ABCCC}"/>
              </a:ext>
            </a:extLst>
          </p:cNvPr>
          <p:cNvPicPr>
            <a:picLocks noChangeAspect="1"/>
          </p:cNvPicPr>
          <p:nvPr/>
        </p:nvPicPr>
        <p:blipFill>
          <a:blip r:embed="rId4"/>
          <a:stretch>
            <a:fillRect/>
          </a:stretch>
        </p:blipFill>
        <p:spPr>
          <a:xfrm>
            <a:off x="457201" y="4394081"/>
            <a:ext cx="5426764" cy="1234589"/>
          </a:xfrm>
          <a:prstGeom prst="rect">
            <a:avLst/>
          </a:prstGeom>
        </p:spPr>
      </p:pic>
      <p:pic>
        <p:nvPicPr>
          <p:cNvPr id="11" name="Picture 10">
            <a:extLst>
              <a:ext uri="{FF2B5EF4-FFF2-40B4-BE49-F238E27FC236}">
                <a16:creationId xmlns:a16="http://schemas.microsoft.com/office/drawing/2014/main" id="{ADF53951-277A-ED9E-119B-54A2FB993677}"/>
              </a:ext>
            </a:extLst>
          </p:cNvPr>
          <p:cNvPicPr>
            <a:picLocks noChangeAspect="1"/>
          </p:cNvPicPr>
          <p:nvPr/>
        </p:nvPicPr>
        <p:blipFill>
          <a:blip r:embed="rId5"/>
          <a:stretch>
            <a:fillRect/>
          </a:stretch>
        </p:blipFill>
        <p:spPr>
          <a:xfrm>
            <a:off x="6308034" y="3816307"/>
            <a:ext cx="5112595" cy="2390137"/>
          </a:xfrm>
          <a:prstGeom prst="rect">
            <a:avLst/>
          </a:prstGeom>
        </p:spPr>
      </p:pic>
    </p:spTree>
    <p:extLst>
      <p:ext uri="{BB962C8B-B14F-4D97-AF65-F5344CB8AC3E}">
        <p14:creationId xmlns:p14="http://schemas.microsoft.com/office/powerpoint/2010/main" val="8725732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33E33D6-4DC9-9D2B-0548-3B5C87111963}"/>
              </a:ext>
            </a:extLst>
          </p:cNvPr>
          <p:cNvPicPr>
            <a:picLocks noChangeAspect="1"/>
          </p:cNvPicPr>
          <p:nvPr/>
        </p:nvPicPr>
        <p:blipFill>
          <a:blip r:embed="rId2"/>
          <a:stretch>
            <a:fillRect/>
          </a:stretch>
        </p:blipFill>
        <p:spPr>
          <a:xfrm>
            <a:off x="457202" y="526164"/>
            <a:ext cx="5426764" cy="2496310"/>
          </a:xfrm>
          <a:prstGeom prst="rect">
            <a:avLst/>
          </a:prstGeom>
        </p:spPr>
      </p:pic>
      <p:pic>
        <p:nvPicPr>
          <p:cNvPr id="5" name="Picture 4">
            <a:extLst>
              <a:ext uri="{FF2B5EF4-FFF2-40B4-BE49-F238E27FC236}">
                <a16:creationId xmlns:a16="http://schemas.microsoft.com/office/drawing/2014/main" id="{732E7B2F-DF3E-49C9-FF48-EC500A9CF61A}"/>
              </a:ext>
            </a:extLst>
          </p:cNvPr>
          <p:cNvPicPr>
            <a:picLocks noChangeAspect="1"/>
          </p:cNvPicPr>
          <p:nvPr/>
        </p:nvPicPr>
        <p:blipFill>
          <a:blip r:embed="rId3"/>
          <a:stretch>
            <a:fillRect/>
          </a:stretch>
        </p:blipFill>
        <p:spPr>
          <a:xfrm>
            <a:off x="457201" y="4400866"/>
            <a:ext cx="5426764" cy="1221020"/>
          </a:xfrm>
          <a:prstGeom prst="rect">
            <a:avLst/>
          </a:prstGeom>
        </p:spPr>
      </p:pic>
      <p:sp>
        <p:nvSpPr>
          <p:cNvPr id="14" name="Rectangle 13">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0919D884-6FD1-70B3-1A12-737CE9B81E2F}"/>
              </a:ext>
            </a:extLst>
          </p:cNvPr>
          <p:cNvPicPr>
            <a:picLocks noChangeAspect="1"/>
          </p:cNvPicPr>
          <p:nvPr/>
        </p:nvPicPr>
        <p:blipFill>
          <a:blip r:embed="rId4"/>
          <a:stretch>
            <a:fillRect/>
          </a:stretch>
        </p:blipFill>
        <p:spPr>
          <a:xfrm>
            <a:off x="6308034" y="1966087"/>
            <a:ext cx="5426764" cy="2781216"/>
          </a:xfrm>
          <a:prstGeom prst="rect">
            <a:avLst/>
          </a:prstGeom>
        </p:spPr>
      </p:pic>
    </p:spTree>
    <p:extLst>
      <p:ext uri="{BB962C8B-B14F-4D97-AF65-F5344CB8AC3E}">
        <p14:creationId xmlns:p14="http://schemas.microsoft.com/office/powerpoint/2010/main" val="2461676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49B411C-B018-B3A5-EBBC-FF0E5ACA1AB8}"/>
              </a:ext>
            </a:extLst>
          </p:cNvPr>
          <p:cNvPicPr>
            <a:picLocks noChangeAspect="1"/>
          </p:cNvPicPr>
          <p:nvPr/>
        </p:nvPicPr>
        <p:blipFill>
          <a:blip r:embed="rId2"/>
          <a:stretch>
            <a:fillRect/>
          </a:stretch>
        </p:blipFill>
        <p:spPr>
          <a:xfrm>
            <a:off x="457202" y="322660"/>
            <a:ext cx="5426764" cy="2903318"/>
          </a:xfrm>
          <a:prstGeom prst="rect">
            <a:avLst/>
          </a:prstGeom>
        </p:spPr>
      </p:pic>
      <p:pic>
        <p:nvPicPr>
          <p:cNvPr id="11" name="Picture 10">
            <a:extLst>
              <a:ext uri="{FF2B5EF4-FFF2-40B4-BE49-F238E27FC236}">
                <a16:creationId xmlns:a16="http://schemas.microsoft.com/office/drawing/2014/main" id="{B150B1F4-E9ED-5C97-95C6-3714102CD351}"/>
              </a:ext>
            </a:extLst>
          </p:cNvPr>
          <p:cNvPicPr>
            <a:picLocks noChangeAspect="1"/>
          </p:cNvPicPr>
          <p:nvPr/>
        </p:nvPicPr>
        <p:blipFill>
          <a:blip r:embed="rId3"/>
          <a:stretch>
            <a:fillRect/>
          </a:stretch>
        </p:blipFill>
        <p:spPr>
          <a:xfrm>
            <a:off x="457201" y="3641118"/>
            <a:ext cx="5426764" cy="2740515"/>
          </a:xfrm>
          <a:prstGeom prst="rect">
            <a:avLst/>
          </a:prstGeom>
        </p:spPr>
      </p:pic>
      <p:sp>
        <p:nvSpPr>
          <p:cNvPr id="16" name="Rectangle 15">
            <a:extLst>
              <a:ext uri="{FF2B5EF4-FFF2-40B4-BE49-F238E27FC236}">
                <a16:creationId xmlns:a16="http://schemas.microsoft.com/office/drawing/2014/main" id="{799448F2-0E5B-42DA-B2D1-11A14E947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50280" y="0"/>
            <a:ext cx="9144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E8A7552-20E1-4F34-ADAB-C1DB6634D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83280"/>
            <a:ext cx="6126480" cy="9144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0D8F7FA-66EE-4DDF-1350-353FF4004EE3}"/>
              </a:ext>
            </a:extLst>
          </p:cNvPr>
          <p:cNvPicPr>
            <a:picLocks noChangeAspect="1"/>
          </p:cNvPicPr>
          <p:nvPr/>
        </p:nvPicPr>
        <p:blipFill>
          <a:blip r:embed="rId4"/>
          <a:stretch>
            <a:fillRect/>
          </a:stretch>
        </p:blipFill>
        <p:spPr>
          <a:xfrm>
            <a:off x="6308034" y="1742233"/>
            <a:ext cx="5426764" cy="3228924"/>
          </a:xfrm>
          <a:prstGeom prst="rect">
            <a:avLst/>
          </a:prstGeom>
        </p:spPr>
      </p:pic>
    </p:spTree>
    <p:extLst>
      <p:ext uri="{BB962C8B-B14F-4D97-AF65-F5344CB8AC3E}">
        <p14:creationId xmlns:p14="http://schemas.microsoft.com/office/powerpoint/2010/main" val="1089139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5FE91B3-EE9B-34EF-82A8-8EB45E957B1A}"/>
              </a:ext>
            </a:extLst>
          </p:cNvPr>
          <p:cNvPicPr>
            <a:picLocks noChangeAspect="1"/>
          </p:cNvPicPr>
          <p:nvPr/>
        </p:nvPicPr>
        <p:blipFill>
          <a:blip r:embed="rId2"/>
          <a:stretch>
            <a:fillRect/>
          </a:stretch>
        </p:blipFill>
        <p:spPr>
          <a:xfrm>
            <a:off x="87881" y="1748074"/>
            <a:ext cx="5420290" cy="3361851"/>
          </a:xfrm>
          <a:prstGeom prst="rect">
            <a:avLst/>
          </a:prstGeom>
        </p:spPr>
      </p:pic>
      <p:sp>
        <p:nvSpPr>
          <p:cNvPr id="7" name="TextBox 6">
            <a:extLst>
              <a:ext uri="{FF2B5EF4-FFF2-40B4-BE49-F238E27FC236}">
                <a16:creationId xmlns:a16="http://schemas.microsoft.com/office/drawing/2014/main" id="{9EE54902-949C-FCFE-F6D6-54D353258D2A}"/>
              </a:ext>
            </a:extLst>
          </p:cNvPr>
          <p:cNvSpPr txBox="1"/>
          <p:nvPr/>
        </p:nvSpPr>
        <p:spPr>
          <a:xfrm>
            <a:off x="653142" y="55586"/>
            <a:ext cx="10590656" cy="369332"/>
          </a:xfrm>
          <a:prstGeom prst="rect">
            <a:avLst/>
          </a:prstGeom>
          <a:noFill/>
        </p:spPr>
        <p:txBody>
          <a:bodyPr wrap="none" rtlCol="0">
            <a:spAutoFit/>
          </a:bodyPr>
          <a:lstStyle/>
          <a:p>
            <a:r>
              <a:rPr lang="en-ZA" b="1" u="sng" dirty="0"/>
              <a:t>Ran codes on Databricks to compare the results to my data agent to see if there's any discrepancies </a:t>
            </a:r>
          </a:p>
        </p:txBody>
      </p:sp>
      <p:sp>
        <p:nvSpPr>
          <p:cNvPr id="8" name="TextBox 7">
            <a:extLst>
              <a:ext uri="{FF2B5EF4-FFF2-40B4-BE49-F238E27FC236}">
                <a16:creationId xmlns:a16="http://schemas.microsoft.com/office/drawing/2014/main" id="{E301DB30-43AE-E6AA-F395-5A5BDE2A7DEB}"/>
              </a:ext>
            </a:extLst>
          </p:cNvPr>
          <p:cNvSpPr txBox="1"/>
          <p:nvPr/>
        </p:nvSpPr>
        <p:spPr>
          <a:xfrm>
            <a:off x="185852" y="717164"/>
            <a:ext cx="7391447" cy="369332"/>
          </a:xfrm>
          <a:prstGeom prst="rect">
            <a:avLst/>
          </a:prstGeom>
          <a:noFill/>
        </p:spPr>
        <p:txBody>
          <a:bodyPr wrap="none" rtlCol="0">
            <a:spAutoFit/>
          </a:bodyPr>
          <a:lstStyle/>
          <a:p>
            <a:r>
              <a:rPr lang="en-ZA" dirty="0"/>
              <a:t>The question here was to see spends more between Males and Females </a:t>
            </a:r>
          </a:p>
        </p:txBody>
      </p:sp>
      <p:pic>
        <p:nvPicPr>
          <p:cNvPr id="10" name="Picture 9">
            <a:extLst>
              <a:ext uri="{FF2B5EF4-FFF2-40B4-BE49-F238E27FC236}">
                <a16:creationId xmlns:a16="http://schemas.microsoft.com/office/drawing/2014/main" id="{7A8F8A10-49A5-B505-A083-1472A6B8B3FB}"/>
              </a:ext>
            </a:extLst>
          </p:cNvPr>
          <p:cNvPicPr>
            <a:picLocks noChangeAspect="1"/>
          </p:cNvPicPr>
          <p:nvPr/>
        </p:nvPicPr>
        <p:blipFill>
          <a:blip r:embed="rId3"/>
          <a:stretch>
            <a:fillRect/>
          </a:stretch>
        </p:blipFill>
        <p:spPr>
          <a:xfrm>
            <a:off x="5546950" y="1748073"/>
            <a:ext cx="5945852" cy="2856583"/>
          </a:xfrm>
          <a:prstGeom prst="rect">
            <a:avLst/>
          </a:prstGeom>
        </p:spPr>
      </p:pic>
      <p:sp>
        <p:nvSpPr>
          <p:cNvPr id="11" name="TextBox 10">
            <a:extLst>
              <a:ext uri="{FF2B5EF4-FFF2-40B4-BE49-F238E27FC236}">
                <a16:creationId xmlns:a16="http://schemas.microsoft.com/office/drawing/2014/main" id="{7C2BFA04-2B18-BB0C-CE6B-0BCCF7C55AC4}"/>
              </a:ext>
            </a:extLst>
          </p:cNvPr>
          <p:cNvSpPr txBox="1"/>
          <p:nvPr/>
        </p:nvSpPr>
        <p:spPr>
          <a:xfrm>
            <a:off x="87881" y="5586837"/>
            <a:ext cx="4237314" cy="369332"/>
          </a:xfrm>
          <a:prstGeom prst="rect">
            <a:avLst/>
          </a:prstGeom>
          <a:noFill/>
        </p:spPr>
        <p:txBody>
          <a:bodyPr wrap="none" rtlCol="0">
            <a:spAutoFit/>
          </a:bodyPr>
          <a:lstStyle/>
          <a:p>
            <a:r>
              <a:rPr lang="en-ZA" dirty="0"/>
              <a:t>Results are the same, no discrepancies  </a:t>
            </a:r>
          </a:p>
        </p:txBody>
      </p:sp>
    </p:spTree>
    <p:extLst>
      <p:ext uri="{BB962C8B-B14F-4D97-AF65-F5344CB8AC3E}">
        <p14:creationId xmlns:p14="http://schemas.microsoft.com/office/powerpoint/2010/main" val="2586961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0B81652-941B-2B56-3364-1AF97A4F2E55}"/>
              </a:ext>
            </a:extLst>
          </p:cNvPr>
          <p:cNvPicPr>
            <a:picLocks noChangeAspect="1"/>
          </p:cNvPicPr>
          <p:nvPr/>
        </p:nvPicPr>
        <p:blipFill>
          <a:blip r:embed="rId2"/>
          <a:stretch>
            <a:fillRect/>
          </a:stretch>
        </p:blipFill>
        <p:spPr>
          <a:xfrm>
            <a:off x="218924" y="1479362"/>
            <a:ext cx="5291666" cy="3638020"/>
          </a:xfrm>
          <a:prstGeom prst="rect">
            <a:avLst/>
          </a:prstGeom>
        </p:spPr>
      </p:pic>
      <p:pic>
        <p:nvPicPr>
          <p:cNvPr id="8" name="Picture 7">
            <a:extLst>
              <a:ext uri="{FF2B5EF4-FFF2-40B4-BE49-F238E27FC236}">
                <a16:creationId xmlns:a16="http://schemas.microsoft.com/office/drawing/2014/main" id="{49A085DE-A0CA-94BF-13E1-9C3441053BFF}"/>
              </a:ext>
            </a:extLst>
          </p:cNvPr>
          <p:cNvPicPr>
            <a:picLocks noChangeAspect="1"/>
          </p:cNvPicPr>
          <p:nvPr/>
        </p:nvPicPr>
        <p:blipFill>
          <a:blip r:embed="rId3"/>
          <a:stretch>
            <a:fillRect/>
          </a:stretch>
        </p:blipFill>
        <p:spPr>
          <a:xfrm>
            <a:off x="5706533" y="1417128"/>
            <a:ext cx="6295905" cy="2817415"/>
          </a:xfrm>
          <a:prstGeom prst="rect">
            <a:avLst/>
          </a:prstGeom>
        </p:spPr>
      </p:pic>
      <p:sp>
        <p:nvSpPr>
          <p:cNvPr id="10" name="Rectangle 1">
            <a:extLst>
              <a:ext uri="{FF2B5EF4-FFF2-40B4-BE49-F238E27FC236}">
                <a16:creationId xmlns:a16="http://schemas.microsoft.com/office/drawing/2014/main" id="{A5AF6C92-BE16-A83C-94FE-98A7471C8220}"/>
              </a:ext>
            </a:extLst>
          </p:cNvPr>
          <p:cNvSpPr>
            <a:spLocks noChangeArrowheads="1"/>
          </p:cNvSpPr>
          <p:nvPr/>
        </p:nvSpPr>
        <p:spPr bwMode="auto">
          <a:xfrm>
            <a:off x="0" y="0"/>
            <a:ext cx="12192000" cy="0"/>
          </a:xfrm>
          <a:prstGeom prst="rect">
            <a:avLst/>
          </a:prstGeom>
          <a:solidFill>
            <a:srgbClr val="F1EC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a:ln>
                  <a:noFill/>
                </a:ln>
                <a:solidFill>
                  <a:srgbClr val="161616"/>
                </a:solidFill>
                <a:effectLst/>
                <a:latin typeface="-apple-system"/>
              </a:rPr>
              <a:t>Which product category is the least popular?</a:t>
            </a:r>
            <a:endParaRPr kumimoji="0" lang="en-US" altLang="en-US"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0EE39169-2B43-D7C6-7530-E877D59E513F}"/>
              </a:ext>
            </a:extLst>
          </p:cNvPr>
          <p:cNvSpPr txBox="1"/>
          <p:nvPr/>
        </p:nvSpPr>
        <p:spPr>
          <a:xfrm>
            <a:off x="275167" y="492782"/>
            <a:ext cx="7374904" cy="369332"/>
          </a:xfrm>
          <a:prstGeom prst="rect">
            <a:avLst/>
          </a:prstGeom>
          <a:noFill/>
        </p:spPr>
        <p:txBody>
          <a:bodyPr wrap="none" rtlCol="0">
            <a:spAutoFit/>
          </a:bodyPr>
          <a:lstStyle/>
          <a:p>
            <a:r>
              <a:rPr lang="en-ZA" dirty="0"/>
              <a:t>The question here was to see which product category is the least popular</a:t>
            </a:r>
          </a:p>
        </p:txBody>
      </p:sp>
      <p:sp>
        <p:nvSpPr>
          <p:cNvPr id="14" name="TextBox 13">
            <a:extLst>
              <a:ext uri="{FF2B5EF4-FFF2-40B4-BE49-F238E27FC236}">
                <a16:creationId xmlns:a16="http://schemas.microsoft.com/office/drawing/2014/main" id="{98978B45-A7B1-4129-DB5A-F203524C71C3}"/>
              </a:ext>
            </a:extLst>
          </p:cNvPr>
          <p:cNvSpPr txBox="1"/>
          <p:nvPr/>
        </p:nvSpPr>
        <p:spPr>
          <a:xfrm>
            <a:off x="275167" y="5549964"/>
            <a:ext cx="4237314" cy="369332"/>
          </a:xfrm>
          <a:prstGeom prst="rect">
            <a:avLst/>
          </a:prstGeom>
          <a:noFill/>
        </p:spPr>
        <p:txBody>
          <a:bodyPr wrap="none" rtlCol="0">
            <a:spAutoFit/>
          </a:bodyPr>
          <a:lstStyle/>
          <a:p>
            <a:r>
              <a:rPr lang="en-ZA" dirty="0"/>
              <a:t>Results are the same, no discrepancies  </a:t>
            </a:r>
          </a:p>
        </p:txBody>
      </p:sp>
    </p:spTree>
    <p:extLst>
      <p:ext uri="{BB962C8B-B14F-4D97-AF65-F5344CB8AC3E}">
        <p14:creationId xmlns:p14="http://schemas.microsoft.com/office/powerpoint/2010/main" val="351104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DA031C-16CC-C530-8C60-5134C4BD1335}"/>
              </a:ext>
            </a:extLst>
          </p:cNvPr>
          <p:cNvPicPr>
            <a:picLocks noChangeAspect="1"/>
          </p:cNvPicPr>
          <p:nvPr/>
        </p:nvPicPr>
        <p:blipFill>
          <a:blip r:embed="rId2"/>
          <a:stretch>
            <a:fillRect/>
          </a:stretch>
        </p:blipFill>
        <p:spPr>
          <a:xfrm>
            <a:off x="237596" y="4574685"/>
            <a:ext cx="10762484" cy="1989401"/>
          </a:xfrm>
          <a:prstGeom prst="rect">
            <a:avLst/>
          </a:prstGeom>
        </p:spPr>
      </p:pic>
      <p:pic>
        <p:nvPicPr>
          <p:cNvPr id="5" name="Picture 4">
            <a:extLst>
              <a:ext uri="{FF2B5EF4-FFF2-40B4-BE49-F238E27FC236}">
                <a16:creationId xmlns:a16="http://schemas.microsoft.com/office/drawing/2014/main" id="{14AF64CC-996C-0521-8C82-20F79EF3C40F}"/>
              </a:ext>
            </a:extLst>
          </p:cNvPr>
          <p:cNvPicPr>
            <a:picLocks noChangeAspect="1"/>
          </p:cNvPicPr>
          <p:nvPr/>
        </p:nvPicPr>
        <p:blipFill>
          <a:blip r:embed="rId3"/>
          <a:stretch>
            <a:fillRect/>
          </a:stretch>
        </p:blipFill>
        <p:spPr>
          <a:xfrm>
            <a:off x="237596" y="991153"/>
            <a:ext cx="4617434" cy="3583532"/>
          </a:xfrm>
          <a:prstGeom prst="rect">
            <a:avLst/>
          </a:prstGeom>
        </p:spPr>
      </p:pic>
      <p:sp>
        <p:nvSpPr>
          <p:cNvPr id="6" name="TextBox 5">
            <a:extLst>
              <a:ext uri="{FF2B5EF4-FFF2-40B4-BE49-F238E27FC236}">
                <a16:creationId xmlns:a16="http://schemas.microsoft.com/office/drawing/2014/main" id="{3EED08CB-6F35-031A-84AF-6FB7C595BA64}"/>
              </a:ext>
            </a:extLst>
          </p:cNvPr>
          <p:cNvSpPr txBox="1"/>
          <p:nvPr/>
        </p:nvSpPr>
        <p:spPr>
          <a:xfrm>
            <a:off x="237596" y="293914"/>
            <a:ext cx="5572679" cy="369332"/>
          </a:xfrm>
          <a:prstGeom prst="rect">
            <a:avLst/>
          </a:prstGeom>
          <a:noFill/>
        </p:spPr>
        <p:txBody>
          <a:bodyPr wrap="none" rtlCol="0">
            <a:spAutoFit/>
          </a:bodyPr>
          <a:lstStyle/>
          <a:p>
            <a:r>
              <a:rPr lang="en-ZA" dirty="0"/>
              <a:t>The question here was to see the total sales in revenue</a:t>
            </a:r>
          </a:p>
        </p:txBody>
      </p:sp>
    </p:spTree>
    <p:extLst>
      <p:ext uri="{BB962C8B-B14F-4D97-AF65-F5344CB8AC3E}">
        <p14:creationId xmlns:p14="http://schemas.microsoft.com/office/powerpoint/2010/main" val="2330863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0BC6F-67D6-11DF-3CD2-8F733AFC023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81814D-0366-AB8A-1D34-1C211C6FF369}"/>
              </a:ext>
            </a:extLst>
          </p:cNvPr>
          <p:cNvSpPr txBox="1"/>
          <p:nvPr/>
        </p:nvSpPr>
        <p:spPr>
          <a:xfrm>
            <a:off x="555171" y="415729"/>
            <a:ext cx="9002486" cy="5632311"/>
          </a:xfrm>
          <a:prstGeom prst="rect">
            <a:avLst/>
          </a:prstGeom>
          <a:noFill/>
        </p:spPr>
        <p:txBody>
          <a:bodyPr wrap="square">
            <a:spAutoFit/>
          </a:bodyPr>
          <a:lstStyle/>
          <a:p>
            <a:pPr>
              <a:buNone/>
            </a:pPr>
            <a:r>
              <a:rPr lang="en-ZA" b="1" u="sng" dirty="0"/>
              <a:t>Key Insights from the Retail Sales Analysis</a:t>
            </a:r>
          </a:p>
          <a:p>
            <a:pPr>
              <a:buNone/>
            </a:pPr>
            <a:endParaRPr lang="en-ZA" b="1" u="sng" dirty="0"/>
          </a:p>
          <a:p>
            <a:pPr>
              <a:buNone/>
            </a:pPr>
            <a:r>
              <a:rPr lang="en-ZA" dirty="0"/>
              <a:t>The store generated </a:t>
            </a:r>
            <a:r>
              <a:rPr lang="en-ZA" b="1" dirty="0"/>
              <a:t>$456,000</a:t>
            </a:r>
            <a:r>
              <a:rPr lang="en-ZA" dirty="0"/>
              <a:t> in total sales from </a:t>
            </a:r>
            <a:r>
              <a:rPr lang="en-ZA" b="1" dirty="0"/>
              <a:t>1,000 transactions</a:t>
            </a:r>
            <a:r>
              <a:rPr lang="en-ZA" dirty="0"/>
              <a:t>, with an average transaction value of </a:t>
            </a:r>
            <a:r>
              <a:rPr lang="en-ZA" b="1" dirty="0"/>
              <a:t>$456</a:t>
            </a:r>
            <a:r>
              <a:rPr lang="en-ZA" dirty="0"/>
              <a:t>. </a:t>
            </a:r>
          </a:p>
          <a:p>
            <a:pPr>
              <a:buNone/>
            </a:pPr>
            <a:endParaRPr lang="en-ZA" dirty="0"/>
          </a:p>
          <a:p>
            <a:pPr>
              <a:buNone/>
            </a:pPr>
            <a:r>
              <a:rPr lang="en-ZA" b="1" dirty="0"/>
              <a:t>Female</a:t>
            </a:r>
            <a:r>
              <a:rPr lang="en-ZA" dirty="0"/>
              <a:t> customers spent slightly more than </a:t>
            </a:r>
            <a:r>
              <a:rPr lang="en-ZA" b="1" dirty="0"/>
              <a:t>male</a:t>
            </a:r>
            <a:r>
              <a:rPr lang="en-ZA" dirty="0"/>
              <a:t> customers, contributing </a:t>
            </a:r>
            <a:r>
              <a:rPr lang="en-ZA" b="1" dirty="0"/>
              <a:t>51%</a:t>
            </a:r>
            <a:r>
              <a:rPr lang="en-ZA" dirty="0"/>
              <a:t> of total sales.</a:t>
            </a:r>
          </a:p>
          <a:p>
            <a:pPr>
              <a:buNone/>
            </a:pPr>
            <a:endParaRPr lang="en-ZA" dirty="0"/>
          </a:p>
          <a:p>
            <a:pPr>
              <a:buNone/>
            </a:pPr>
            <a:r>
              <a:rPr lang="en-ZA" b="1" dirty="0"/>
              <a:t>Electronics</a:t>
            </a:r>
            <a:r>
              <a:rPr lang="en-ZA" dirty="0"/>
              <a:t> was the highest-performing product category, while </a:t>
            </a:r>
            <a:r>
              <a:rPr lang="en-ZA" b="1" dirty="0"/>
              <a:t>Beauty</a:t>
            </a:r>
            <a:r>
              <a:rPr lang="en-ZA" dirty="0"/>
              <a:t> was the least popular. Although Clothing sold the most items, Electronics generated more revenue due to its higher-priced products.</a:t>
            </a:r>
          </a:p>
          <a:p>
            <a:pPr>
              <a:buNone/>
            </a:pPr>
            <a:endParaRPr lang="en-ZA" dirty="0"/>
          </a:p>
          <a:p>
            <a:pPr>
              <a:buNone/>
            </a:pPr>
            <a:r>
              <a:rPr lang="en-ZA" dirty="0"/>
              <a:t>Customers aged </a:t>
            </a:r>
            <a:r>
              <a:rPr lang="en-ZA" b="1" dirty="0"/>
              <a:t>45–54</a:t>
            </a:r>
            <a:r>
              <a:rPr lang="en-ZA" dirty="0"/>
              <a:t> spent the most overall, while the </a:t>
            </a:r>
            <a:r>
              <a:rPr lang="en-ZA" b="1" dirty="0"/>
              <a:t>18–24</a:t>
            </a:r>
            <a:r>
              <a:rPr lang="en-ZA" dirty="0"/>
              <a:t> age group had the highest average spend per purchase.</a:t>
            </a:r>
          </a:p>
          <a:p>
            <a:pPr>
              <a:buNone/>
            </a:pPr>
            <a:endParaRPr lang="en-ZA" dirty="0"/>
          </a:p>
          <a:p>
            <a:pPr>
              <a:buNone/>
            </a:pPr>
            <a:r>
              <a:rPr lang="en-ZA" dirty="0"/>
              <a:t>Sales peaked in </a:t>
            </a:r>
            <a:r>
              <a:rPr lang="en-ZA" b="1" dirty="0"/>
              <a:t>May</a:t>
            </a:r>
            <a:r>
              <a:rPr lang="en-ZA" dirty="0"/>
              <a:t> and were lowest in </a:t>
            </a:r>
            <a:r>
              <a:rPr lang="en-ZA" b="1" dirty="0"/>
              <a:t>September</a:t>
            </a:r>
            <a:r>
              <a:rPr lang="en-ZA" dirty="0"/>
              <a:t>, with strong sales returning towards the end of the year. </a:t>
            </a:r>
          </a:p>
          <a:p>
            <a:pPr>
              <a:buNone/>
            </a:pPr>
            <a:endParaRPr lang="en-ZA" dirty="0"/>
          </a:p>
          <a:p>
            <a:pPr>
              <a:buNone/>
            </a:pPr>
            <a:r>
              <a:rPr lang="en-ZA" dirty="0"/>
              <a:t>The analysis also identified the </a:t>
            </a:r>
            <a:r>
              <a:rPr lang="en-ZA" b="1" dirty="0"/>
              <a:t>top 10 customers</a:t>
            </a:r>
            <a:r>
              <a:rPr lang="en-ZA" dirty="0"/>
              <a:t>, each spending </a:t>
            </a:r>
            <a:r>
              <a:rPr lang="en-ZA" b="1" dirty="0"/>
              <a:t>$2,000</a:t>
            </a:r>
            <a:r>
              <a:rPr lang="en-ZA" dirty="0"/>
              <a:t>, making them the highest-value customers in the dataset.</a:t>
            </a:r>
          </a:p>
        </p:txBody>
      </p:sp>
    </p:spTree>
    <p:extLst>
      <p:ext uri="{BB962C8B-B14F-4D97-AF65-F5344CB8AC3E}">
        <p14:creationId xmlns:p14="http://schemas.microsoft.com/office/powerpoint/2010/main" val="2790009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89ABD-504B-323F-6EB4-1CE99649A97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118A9BA-CDB2-232E-4125-2DFA8796B86C}"/>
              </a:ext>
            </a:extLst>
          </p:cNvPr>
          <p:cNvSpPr txBox="1"/>
          <p:nvPr/>
        </p:nvSpPr>
        <p:spPr>
          <a:xfrm>
            <a:off x="468085" y="0"/>
            <a:ext cx="7870372" cy="646331"/>
          </a:xfrm>
          <a:prstGeom prst="rect">
            <a:avLst/>
          </a:prstGeom>
          <a:noFill/>
        </p:spPr>
        <p:txBody>
          <a:bodyPr wrap="square" rtlCol="0">
            <a:spAutoFit/>
          </a:bodyPr>
          <a:lstStyle/>
          <a:p>
            <a:r>
              <a:rPr lang="en-ZA" b="1" dirty="0"/>
              <a:t>Business recommendations </a:t>
            </a:r>
            <a:r>
              <a:rPr lang="en-ZA" dirty="0"/>
              <a:t>	</a:t>
            </a:r>
          </a:p>
          <a:p>
            <a:endParaRPr lang="en-ZA" dirty="0"/>
          </a:p>
        </p:txBody>
      </p:sp>
      <p:sp>
        <p:nvSpPr>
          <p:cNvPr id="8" name="TextBox 7">
            <a:extLst>
              <a:ext uri="{FF2B5EF4-FFF2-40B4-BE49-F238E27FC236}">
                <a16:creationId xmlns:a16="http://schemas.microsoft.com/office/drawing/2014/main" id="{0E18A745-70F7-6CE1-08EF-31D7E1683B8C}"/>
              </a:ext>
            </a:extLst>
          </p:cNvPr>
          <p:cNvSpPr txBox="1"/>
          <p:nvPr/>
        </p:nvSpPr>
        <p:spPr>
          <a:xfrm>
            <a:off x="261258" y="972903"/>
            <a:ext cx="9938658" cy="3693319"/>
          </a:xfrm>
          <a:prstGeom prst="rect">
            <a:avLst/>
          </a:prstGeom>
          <a:noFill/>
        </p:spPr>
        <p:txBody>
          <a:bodyPr wrap="square">
            <a:spAutoFit/>
          </a:bodyPr>
          <a:lstStyle/>
          <a:p>
            <a:pPr marL="285750" indent="-285750">
              <a:buFont typeface="Arial" panose="020B0604020202020204" pitchFamily="34" charset="0"/>
              <a:buChar char="•"/>
            </a:pPr>
            <a:r>
              <a:rPr lang="en-ZA" dirty="0"/>
              <a:t>Focus Clothing and Beauty promotions on female customers, and promote Electronics to male customers.</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Target 18 to 24 year olds with marketing campaigns, as they tend to make higher-value purchases.</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Run special promotions in September to increase sales during the slowest month.</a:t>
            </a:r>
          </a:p>
          <a:p>
            <a:endParaRPr lang="en-ZA" dirty="0"/>
          </a:p>
          <a:p>
            <a:pPr marL="285750" indent="-285750">
              <a:buFont typeface="Arial" panose="020B0604020202020204" pitchFamily="34" charset="0"/>
              <a:buChar char="•"/>
            </a:pPr>
            <a:r>
              <a:rPr lang="en-ZA" dirty="0"/>
              <a:t>Prepare more stock and marketing campaigns for May, October, and December, as these are the strongest sales months.</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Promote Beauty products as premium products since they have a higher average transaction value despite lower sales.</a:t>
            </a:r>
          </a:p>
        </p:txBody>
      </p:sp>
    </p:spTree>
    <p:extLst>
      <p:ext uri="{BB962C8B-B14F-4D97-AF65-F5344CB8AC3E}">
        <p14:creationId xmlns:p14="http://schemas.microsoft.com/office/powerpoint/2010/main" val="29178815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782F03-DBE6-09D4-5F75-FB32E8528F61}"/>
              </a:ext>
            </a:extLst>
          </p:cNvPr>
          <p:cNvSpPr txBox="1"/>
          <p:nvPr/>
        </p:nvSpPr>
        <p:spPr>
          <a:xfrm>
            <a:off x="163285" y="842274"/>
            <a:ext cx="10428515" cy="3693319"/>
          </a:xfrm>
          <a:prstGeom prst="rect">
            <a:avLst/>
          </a:prstGeom>
          <a:noFill/>
        </p:spPr>
        <p:txBody>
          <a:bodyPr wrap="square">
            <a:spAutoFit/>
          </a:bodyPr>
          <a:lstStyle/>
          <a:p>
            <a:pPr marL="285750" indent="-285750">
              <a:buFont typeface="Arial" panose="020B0604020202020204" pitchFamily="34" charset="0"/>
              <a:buChar char="•"/>
            </a:pPr>
            <a:r>
              <a:rPr lang="en-ZA" dirty="0"/>
              <a:t>This project showed how a Retail Sales Data Agent can make data analysis easier by answering questions in natural language. </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One challenge was creating the SQL queries and adjusting the agent's instructions to ensure it gave accurate answers.</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If I were to improve this project, I would add product names and brands, customer location, loyalty information, profit data, and sales data from multiple years. </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This would help the agent provide more detailed insights and identify long-term sales trends. </a:t>
            </a:r>
          </a:p>
          <a:p>
            <a:pPr marL="285750" indent="-285750">
              <a:buFont typeface="Arial" panose="020B0604020202020204" pitchFamily="34" charset="0"/>
              <a:buChar char="•"/>
            </a:pPr>
            <a:endParaRPr lang="en-ZA" dirty="0"/>
          </a:p>
          <a:p>
            <a:pPr marL="285750" indent="-285750">
              <a:buFont typeface="Arial" panose="020B0604020202020204" pitchFamily="34" charset="0"/>
              <a:buChar char="•"/>
            </a:pPr>
            <a:r>
              <a:rPr lang="en-ZA" dirty="0"/>
              <a:t>Overall, the project showed how data agents can help businesses analyse data faster and make better decisions.</a:t>
            </a:r>
          </a:p>
        </p:txBody>
      </p:sp>
      <p:sp>
        <p:nvSpPr>
          <p:cNvPr id="4" name="TextBox 3">
            <a:extLst>
              <a:ext uri="{FF2B5EF4-FFF2-40B4-BE49-F238E27FC236}">
                <a16:creationId xmlns:a16="http://schemas.microsoft.com/office/drawing/2014/main" id="{4550B0C0-8769-5041-18EF-474EEA674E0C}"/>
              </a:ext>
            </a:extLst>
          </p:cNvPr>
          <p:cNvSpPr txBox="1"/>
          <p:nvPr/>
        </p:nvSpPr>
        <p:spPr>
          <a:xfrm>
            <a:off x="293913" y="195943"/>
            <a:ext cx="7870372" cy="646331"/>
          </a:xfrm>
          <a:prstGeom prst="rect">
            <a:avLst/>
          </a:prstGeom>
          <a:noFill/>
        </p:spPr>
        <p:txBody>
          <a:bodyPr wrap="square" rtlCol="0">
            <a:spAutoFit/>
          </a:bodyPr>
          <a:lstStyle/>
          <a:p>
            <a:r>
              <a:rPr lang="en-ZA" b="1" dirty="0"/>
              <a:t>CONCLUSION</a:t>
            </a:r>
            <a:r>
              <a:rPr lang="en-ZA" dirty="0"/>
              <a:t>	</a:t>
            </a:r>
          </a:p>
          <a:p>
            <a:endParaRPr lang="en-ZA" dirty="0"/>
          </a:p>
        </p:txBody>
      </p:sp>
    </p:spTree>
    <p:extLst>
      <p:ext uri="{BB962C8B-B14F-4D97-AF65-F5344CB8AC3E}">
        <p14:creationId xmlns:p14="http://schemas.microsoft.com/office/powerpoint/2010/main" val="11578479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1552</TotalTime>
  <Words>874</Words>
  <Application>Microsoft Office PowerPoint</Application>
  <PresentationFormat>Widescreen</PresentationFormat>
  <Paragraphs>90</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-apple-system</vt:lpstr>
      <vt:lpstr>Aptos</vt:lpstr>
      <vt:lpstr>Aptos Display</vt:lpstr>
      <vt:lpstr>Arial</vt:lpstr>
      <vt:lpstr>Office Theme</vt:lpstr>
      <vt:lpstr>Name: Rabia Sithole Student Number: 2805002098 Date: 18 July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Woolworths Holdings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Rabia Sithole</dc:creator>
  <cp:lastModifiedBy>Rabia Sithole</cp:lastModifiedBy>
  <cp:revision>1</cp:revision>
  <dcterms:created xsi:type="dcterms:W3CDTF">2026-07-18T20:43:20Z</dcterms:created>
  <dcterms:modified xsi:type="dcterms:W3CDTF">2026-07-19T22:36:15Z</dcterms:modified>
</cp:coreProperties>
</file>